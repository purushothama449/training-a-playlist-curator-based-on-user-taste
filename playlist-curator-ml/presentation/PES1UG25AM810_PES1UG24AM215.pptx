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29920E-ADB3-4D14-8DEC-62488718D584}">
          <p14:sldIdLst>
            <p14:sldId id="256"/>
            <p14:sldId id="257"/>
          </p14:sldIdLst>
        </p14:section>
        <p14:section name="Untitled Section" id="{5146D6D8-1B02-403C-B503-F7B031447EC6}">
          <p14:sldIdLst>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5" d="100"/>
          <a:sy n="105" d="100"/>
        </p:scale>
        <p:origin x="7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5528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an ML application that classifies songs into playlists from audio features and recommends acoustically similar songs. The subtitle follows the title of the Stanford paper by Awadelkarim and Coelho (2018) that inspired the idea.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manual playlisting does not scale, and titles or genres alone do not describe how a song sounds. The research question is the central question the project tries to answer.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from data preparation through model comparison to the web application and music previews.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5,721 songs, 12 playlists and 11 audio features are shown in the application dashboard. The target variable is the playlist label. These are the same family of audio features as the Spotify features used in the Stanford paper.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After scaling, the data splits into two branches: a classifier that predicts the playlist with a confidence value, and a cosine-similarity engine that ranks similar songs. Both are exposed by the FastAPI backend and shown in the React dashboard. Jamendo is an optional source of licensed preview audio.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step briefly, then the z-score formula. Loudness is in negative decibels and tempo is in BPM, while danceability and energy are between 0 and 1, so unscaled distance calculations would be dominated by the large-range features. The example values are the ones shown in the Playlist Prediction screenshot.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five models considered. Do not claim one is best on this slide; the evaluation slide and your measured results decide.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only measured figure currently available is the 87.4% accuracy for SVM (RBF) shown in the application dashboard. Verify it against your notebook or results file, and replace the 'to be added' cells with real test-set results for the other models before presenting. The Stanford paper's own numbers belong to that paper, not to this project.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from the running application. It shows manual sliders for each audio feature, the predicted playlist (Party), its confidence (87.6%), and the top-5 predictions. The same pipeline is applied to any song: the features are scaled with the trained scaler, passed to the classifier, and the class probabilities are displayed.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cosine similarity as the angle between two feature vectors: songs whose feature vectors point in a similar direction get a higher score. The vector drawing is only an illustration with two features; the real system uses all scaled audio features. The right-hand screenshot is the Similar Songs panel from the application, with a similarity badge for each recommendation. A high score does not guarantee that a listener will like the song.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Technologies are the ones listed in the project brief; check them against package.json and requirements.txt. The key honesty point: the audio you hear is a licensed Jamendo track and may differ from the recommended commercial song. The screenshot shows exactly this, with the Jamendo label and the track name under the card.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what is implemented, mention the future scope briefly,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54880"/>
            <a:ext cx="4572000" cy="228600"/>
          </a:xfrm>
          <a:prstGeom prst="rect">
            <a:avLst/>
          </a:prstGeom>
          <a:noFill/>
          <a:ln/>
        </p:spPr>
        <p:txBody>
          <a:bodyPr wrap="square" lIns="0" tIns="0" rIns="0" bIns="0" rtlCol="0" anchor="ctr"/>
          <a:lstStyle/>
          <a:p>
            <a:pPr marL="0" indent="0">
              <a:buNone/>
            </a:pPr>
            <a:r>
              <a:rPr lang="en-US" sz="1000" dirty="0">
                <a:solidFill>
                  <a:srgbClr val="5F6B7A"/>
                </a:solidFill>
                <a:latin typeface="Calibri" pitchFamily="34" charset="0"/>
                <a:ea typeface="Calibri" pitchFamily="34" charset="-122"/>
                <a:cs typeface="Calibri" pitchFamily="34" charset="-120"/>
              </a:rPr>
              <a:t>AI Playlist Curator  |  PES University</a:t>
            </a:r>
            <a:endParaRPr lang="en-US" sz="1000" dirty="0"/>
          </a:p>
        </p:txBody>
      </p:sp>
      <p:sp>
        <p:nvSpPr>
          <p:cNvPr id="3" name="Text 1"/>
          <p:cNvSpPr>
            <a:spLocks noGrp="1"/>
          </p:cNvSpPr>
          <p:nvPr>
            <p:ph type="title" idx="101" hasCustomPrompt="1"/>
          </p:nvPr>
        </p:nvSpPr>
        <p:spPr>
          <a:xfrm>
            <a:off x="457200" y="274320"/>
            <a:ext cx="8229600" cy="640080"/>
          </a:xfrm>
          <a:prstGeom prst="rect">
            <a:avLst/>
          </a:prstGeom>
          <a:noFill/>
          <a:ln/>
        </p:spPr>
        <p:txBody>
          <a:bodyPr wrap="square" rtlCol="0"/>
          <a:lstStyle>
            <a:lvl1pPr marL="0" indent="0" algn="l">
              <a:buNone/>
              <a:defRPr lang="en-US" sz="2800" b="1" dirty="0">
                <a:solidFill>
                  <a:srgbClr val="14284B"/>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822960"/>
            <a:ext cx="2821577" cy="274320"/>
          </a:xfrm>
          <a:prstGeom prst="rect">
            <a:avLst/>
          </a:prstGeom>
          <a:noFill/>
          <a:ln/>
        </p:spPr>
        <p:txBody>
          <a:bodyPr wrap="square" lIns="0" tIns="0" rIns="0" bIns="0" rtlCol="0" anchor="t"/>
          <a:lstStyle/>
          <a:p>
            <a:pPr algn="ctr"/>
            <a:r>
              <a:rPr lang="en-IN" sz="1400" b="0" i="0" dirty="0">
                <a:solidFill>
                  <a:srgbClr val="000000"/>
                </a:solidFill>
                <a:effectLst/>
                <a:latin typeface="Open Sans" panose="020B0606030504020204" pitchFamily="34" charset="0"/>
              </a:rPr>
              <a:t>UE24CS352A : Machine Learning</a:t>
            </a:r>
            <a:endParaRPr lang="en-IN" sz="1400" b="1" i="0" u="none" strike="noStrike" cap="none" dirty="0">
              <a:latin typeface="Trebuchet MS"/>
              <a:ea typeface="Trebuchet MS"/>
              <a:cs typeface="Trebuchet MS"/>
              <a:sym typeface="Trebuchet MS"/>
            </a:endParaRPr>
          </a:p>
        </p:txBody>
      </p:sp>
      <p:sp>
        <p:nvSpPr>
          <p:cNvPr id="4" name="Text 2"/>
          <p:cNvSpPr txBox="1"/>
          <p:nvPr/>
        </p:nvSpPr>
        <p:spPr>
          <a:xfrm>
            <a:off x="612648" y="1440180"/>
            <a:ext cx="5760720" cy="411480"/>
          </a:xfrm>
          <a:prstGeom prst="rect">
            <a:avLst/>
          </a:prstGeom>
          <a:noFill/>
          <a:ln/>
        </p:spPr>
        <p:txBody>
          <a:bodyPr wrap="square" lIns="0" tIns="0" rIns="0" bIns="0" rtlCol="0" anchor="t"/>
          <a:lstStyle/>
          <a:p>
            <a:pPr marL="0" indent="0">
              <a:buNone/>
            </a:pPr>
            <a:r>
              <a:rPr lang="en-US" sz="2200" dirty="0">
                <a:solidFill>
                  <a:srgbClr val="1F2A3C"/>
                </a:solidFill>
                <a:latin typeface="Calibri" pitchFamily="34" charset="0"/>
                <a:ea typeface="Calibri" pitchFamily="34" charset="-122"/>
                <a:cs typeface="Calibri" pitchFamily="34" charset="-120"/>
              </a:rPr>
              <a:t>Training a Playlist Curator Based on User Taste</a:t>
            </a:r>
            <a:endParaRPr lang="en-US" sz="2200" dirty="0"/>
          </a:p>
        </p:txBody>
      </p:sp>
      <p:sp>
        <p:nvSpPr>
          <p:cNvPr id="5" name="Text 3"/>
          <p:cNvSpPr txBox="1"/>
          <p:nvPr/>
        </p:nvSpPr>
        <p:spPr>
          <a:xfrm>
            <a:off x="621792" y="2011680"/>
            <a:ext cx="5303520" cy="548640"/>
          </a:xfrm>
          <a:prstGeom prst="rect">
            <a:avLst/>
          </a:prstGeom>
          <a:noFill/>
          <a:ln/>
        </p:spPr>
        <p:txBody>
          <a:bodyPr wrap="square" lIns="0" tIns="0" rIns="0" bIns="0" rtlCol="0" anchor="t"/>
          <a:lstStyle/>
          <a:p>
            <a:pPr marL="0" indent="0">
              <a:buNone/>
            </a:pPr>
            <a:r>
              <a:rPr lang="en-US" sz="1500" dirty="0">
                <a:solidFill>
                  <a:srgbClr val="5F6B7A"/>
                </a:solidFill>
                <a:latin typeface="Calibri" pitchFamily="34" charset="0"/>
                <a:ea typeface="Calibri" pitchFamily="34" charset="-122"/>
                <a:cs typeface="Calibri" pitchFamily="34" charset="-120"/>
              </a:rPr>
              <a:t>Machine Learning-Based Playlist Classification and Content-Based Song Recommendation</a:t>
            </a:r>
            <a:endParaRPr lang="en-US" sz="1500" dirty="0"/>
          </a:p>
        </p:txBody>
      </p:sp>
      <p:sp>
        <p:nvSpPr>
          <p:cNvPr id="6" name="Text 4"/>
          <p:cNvSpPr txBox="1"/>
          <p:nvPr/>
        </p:nvSpPr>
        <p:spPr>
          <a:xfrm>
            <a:off x="640080" y="3657600"/>
            <a:ext cx="5486400" cy="914400"/>
          </a:xfrm>
          <a:prstGeom prst="rect">
            <a:avLst/>
          </a:prstGeom>
          <a:noFill/>
          <a:ln/>
        </p:spPr>
        <p:txBody>
          <a:bodyPr wrap="square" lIns="0" tIns="0" rIns="0" bIns="0" rtlCol="0" anchor="t"/>
          <a:lstStyle/>
          <a:p>
            <a:pPr marL="0" indent="0">
              <a:spcAft>
                <a:spcPts val="300"/>
              </a:spcAft>
              <a:buNone/>
            </a:pPr>
            <a:r>
              <a:rPr lang="en-US" sz="1800" b="1" dirty="0">
                <a:solidFill>
                  <a:srgbClr val="14284B"/>
                </a:solidFill>
                <a:latin typeface="Calibri" pitchFamily="34" charset="0"/>
                <a:ea typeface="Calibri" pitchFamily="34" charset="-122"/>
                <a:cs typeface="Calibri" pitchFamily="34" charset="-120"/>
              </a:rPr>
              <a:t>Purushothama K C                     Raghav G </a:t>
            </a:r>
            <a:r>
              <a:rPr lang="en-US" sz="1800" b="1" dirty="0" err="1">
                <a:solidFill>
                  <a:srgbClr val="14284B"/>
                </a:solidFill>
                <a:latin typeface="Calibri" pitchFamily="34" charset="0"/>
                <a:ea typeface="Calibri" pitchFamily="34" charset="-122"/>
                <a:cs typeface="Calibri" pitchFamily="34" charset="-120"/>
              </a:rPr>
              <a:t>Uddihal</a:t>
            </a:r>
            <a:endParaRPr lang="en-US" sz="1800" dirty="0"/>
          </a:p>
          <a:p>
            <a:pPr marL="0" indent="0">
              <a:spcAft>
                <a:spcPts val="300"/>
              </a:spcAft>
              <a:buNone/>
            </a:pPr>
            <a:r>
              <a:rPr lang="en-US" sz="1500" dirty="0">
                <a:solidFill>
                  <a:srgbClr val="1F2A3C"/>
                </a:solidFill>
                <a:latin typeface="Calibri" pitchFamily="34" charset="0"/>
                <a:ea typeface="Calibri" pitchFamily="34" charset="-122"/>
                <a:cs typeface="Calibri" pitchFamily="34" charset="-120"/>
              </a:rPr>
              <a:t>SRN: PES1UG25AM810                         SRN: PES1UG24AM215</a:t>
            </a:r>
            <a:endParaRPr lang="en-US" sz="1800" dirty="0"/>
          </a:p>
        </p:txBody>
      </p:sp>
      <p:sp>
        <p:nvSpPr>
          <p:cNvPr id="7" name="Bar 1"/>
          <p:cNvSpPr/>
          <p:nvPr/>
        </p:nvSpPr>
        <p:spPr>
          <a:xfrm>
            <a:off x="6720840" y="3200400"/>
            <a:ext cx="146304" cy="822960"/>
          </a:xfrm>
          <a:prstGeom prst="rect">
            <a:avLst/>
          </a:prstGeom>
          <a:solidFill>
            <a:srgbClr val="14284B"/>
          </a:solidFill>
          <a:ln/>
        </p:spPr>
        <p:txBody>
          <a:bodyPr/>
          <a:lstStyle/>
          <a:p>
            <a:endParaRPr lang="en-IN"/>
          </a:p>
        </p:txBody>
      </p:sp>
      <p:sp>
        <p:nvSpPr>
          <p:cNvPr id="8" name="Bar 2"/>
          <p:cNvSpPr/>
          <p:nvPr/>
        </p:nvSpPr>
        <p:spPr>
          <a:xfrm>
            <a:off x="6958584" y="2560320"/>
            <a:ext cx="146304" cy="1463040"/>
          </a:xfrm>
          <a:prstGeom prst="rect">
            <a:avLst/>
          </a:prstGeom>
          <a:solidFill>
            <a:srgbClr val="0F7C8A"/>
          </a:solidFill>
          <a:ln/>
        </p:spPr>
        <p:txBody>
          <a:bodyPr/>
          <a:lstStyle/>
          <a:p>
            <a:endParaRPr lang="en-IN"/>
          </a:p>
        </p:txBody>
      </p:sp>
      <p:sp>
        <p:nvSpPr>
          <p:cNvPr id="9" name="Bar 3"/>
          <p:cNvSpPr/>
          <p:nvPr/>
        </p:nvSpPr>
        <p:spPr>
          <a:xfrm>
            <a:off x="7196328" y="1828800"/>
            <a:ext cx="146304" cy="2194560"/>
          </a:xfrm>
          <a:prstGeom prst="rect">
            <a:avLst/>
          </a:prstGeom>
          <a:solidFill>
            <a:srgbClr val="8FA3BF"/>
          </a:solidFill>
          <a:ln/>
        </p:spPr>
        <p:txBody>
          <a:bodyPr/>
          <a:lstStyle/>
          <a:p>
            <a:endParaRPr lang="en-IN"/>
          </a:p>
        </p:txBody>
      </p:sp>
      <p:sp>
        <p:nvSpPr>
          <p:cNvPr id="10" name="Bar 4"/>
          <p:cNvSpPr/>
          <p:nvPr/>
        </p:nvSpPr>
        <p:spPr>
          <a:xfrm>
            <a:off x="7434072" y="2834640"/>
            <a:ext cx="146304" cy="1188720"/>
          </a:xfrm>
          <a:prstGeom prst="rect">
            <a:avLst/>
          </a:prstGeom>
          <a:solidFill>
            <a:srgbClr val="14284B"/>
          </a:solidFill>
          <a:ln/>
        </p:spPr>
        <p:txBody>
          <a:bodyPr/>
          <a:lstStyle/>
          <a:p>
            <a:endParaRPr lang="en-IN"/>
          </a:p>
        </p:txBody>
      </p:sp>
      <p:sp>
        <p:nvSpPr>
          <p:cNvPr id="11" name="Bar 5"/>
          <p:cNvSpPr/>
          <p:nvPr/>
        </p:nvSpPr>
        <p:spPr>
          <a:xfrm>
            <a:off x="7671816" y="1280160"/>
            <a:ext cx="146304" cy="2743200"/>
          </a:xfrm>
          <a:prstGeom prst="rect">
            <a:avLst/>
          </a:prstGeom>
          <a:solidFill>
            <a:srgbClr val="0F7C8A"/>
          </a:solidFill>
          <a:ln/>
        </p:spPr>
        <p:txBody>
          <a:bodyPr/>
          <a:lstStyle/>
          <a:p>
            <a:endParaRPr lang="en-IN"/>
          </a:p>
        </p:txBody>
      </p:sp>
      <p:sp>
        <p:nvSpPr>
          <p:cNvPr id="12" name="Bar 6"/>
          <p:cNvSpPr/>
          <p:nvPr/>
        </p:nvSpPr>
        <p:spPr>
          <a:xfrm>
            <a:off x="7909560" y="2194560"/>
            <a:ext cx="146304" cy="1828800"/>
          </a:xfrm>
          <a:prstGeom prst="rect">
            <a:avLst/>
          </a:prstGeom>
          <a:solidFill>
            <a:srgbClr val="8FA3BF"/>
          </a:solidFill>
          <a:ln/>
        </p:spPr>
        <p:txBody>
          <a:bodyPr/>
          <a:lstStyle/>
          <a:p>
            <a:endParaRPr lang="en-IN"/>
          </a:p>
        </p:txBody>
      </p:sp>
      <p:sp>
        <p:nvSpPr>
          <p:cNvPr id="13" name="Bar 7"/>
          <p:cNvSpPr/>
          <p:nvPr/>
        </p:nvSpPr>
        <p:spPr>
          <a:xfrm>
            <a:off x="8147304" y="3017520"/>
            <a:ext cx="146304" cy="1005840"/>
          </a:xfrm>
          <a:prstGeom prst="rect">
            <a:avLst/>
          </a:prstGeom>
          <a:solidFill>
            <a:srgbClr val="14284B"/>
          </a:solidFill>
          <a:ln/>
        </p:spPr>
        <p:txBody>
          <a:bodyPr/>
          <a:lstStyle/>
          <a:p>
            <a:endParaRPr lang="en-IN"/>
          </a:p>
        </p:txBody>
      </p:sp>
      <p:sp>
        <p:nvSpPr>
          <p:cNvPr id="14" name="Bar 8"/>
          <p:cNvSpPr/>
          <p:nvPr/>
        </p:nvSpPr>
        <p:spPr>
          <a:xfrm>
            <a:off x="8385048" y="1645920"/>
            <a:ext cx="146304" cy="2377440"/>
          </a:xfrm>
          <a:prstGeom prst="rect">
            <a:avLst/>
          </a:prstGeom>
          <a:solidFill>
            <a:srgbClr val="0F7C8A"/>
          </a:solidFill>
          <a:ln/>
        </p:spPr>
        <p:txBody>
          <a:bodyPr/>
          <a:lstStyle/>
          <a:p>
            <a:endParaRPr lang="en-IN"/>
          </a:p>
        </p:txBody>
      </p:sp>
      <p:sp>
        <p:nvSpPr>
          <p:cNvPr id="15" name="Bar 9"/>
          <p:cNvSpPr/>
          <p:nvPr/>
        </p:nvSpPr>
        <p:spPr>
          <a:xfrm>
            <a:off x="8622792" y="2468880"/>
            <a:ext cx="146304" cy="1554480"/>
          </a:xfrm>
          <a:prstGeom prst="rect">
            <a:avLst/>
          </a:prstGeom>
          <a:solidFill>
            <a:srgbClr val="8FA3BF"/>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Problem Statement</a:t>
            </a:r>
            <a:endParaRPr lang="en-US" sz="2800" dirty="0"/>
          </a:p>
        </p:txBody>
      </p:sp>
      <p:sp>
        <p:nvSpPr>
          <p:cNvPr id="3" name="Shape 1"/>
          <p:cNvSpPr/>
          <p:nvPr/>
        </p:nvSpPr>
        <p:spPr>
          <a:xfrm>
            <a:off x="457200" y="1143000"/>
            <a:ext cx="411480" cy="411480"/>
          </a:xfrm>
          <a:prstGeom prst="ellipse">
            <a:avLst/>
          </a:prstGeom>
          <a:solidFill>
            <a:srgbClr val="0F7C8A"/>
          </a:solidFill>
          <a:ln/>
        </p:spPr>
        <p:txBody>
          <a:bodyPr/>
          <a:lstStyle/>
          <a:p>
            <a:endParaRPr lang="en-IN"/>
          </a:p>
        </p:txBody>
      </p:sp>
      <p:sp>
        <p:nvSpPr>
          <p:cNvPr id="4" name="Text 2"/>
          <p:cNvSpPr txBox="1"/>
          <p:nvPr/>
        </p:nvSpPr>
        <p:spPr>
          <a:xfrm>
            <a:off x="457200" y="114300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5" name="Text 3"/>
          <p:cNvSpPr txBox="1"/>
          <p:nvPr/>
        </p:nvSpPr>
        <p:spPr>
          <a:xfrm>
            <a:off x="1051560" y="1124712"/>
            <a:ext cx="4114800" cy="292608"/>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Manual playlisting does not scale</a:t>
            </a:r>
            <a:endParaRPr lang="en-US" sz="1800" dirty="0"/>
          </a:p>
        </p:txBody>
      </p:sp>
      <p:sp>
        <p:nvSpPr>
          <p:cNvPr id="6" name="Text 4"/>
          <p:cNvSpPr txBox="1"/>
          <p:nvPr/>
        </p:nvSpPr>
        <p:spPr>
          <a:xfrm>
            <a:off x="1051560" y="1453896"/>
            <a:ext cx="4114800" cy="59436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Organizing a large music collection into playlists by hand is slow and tedious.</a:t>
            </a:r>
            <a:endParaRPr lang="en-US" sz="1400" dirty="0"/>
          </a:p>
        </p:txBody>
      </p:sp>
      <p:sp>
        <p:nvSpPr>
          <p:cNvPr id="7" name="Shape 5"/>
          <p:cNvSpPr/>
          <p:nvPr/>
        </p:nvSpPr>
        <p:spPr>
          <a:xfrm>
            <a:off x="457200" y="2167128"/>
            <a:ext cx="411480" cy="411480"/>
          </a:xfrm>
          <a:prstGeom prst="ellipse">
            <a:avLst/>
          </a:prstGeom>
          <a:solidFill>
            <a:srgbClr val="0F7C8A"/>
          </a:solidFill>
          <a:ln/>
        </p:spPr>
        <p:txBody>
          <a:bodyPr/>
          <a:lstStyle/>
          <a:p>
            <a:endParaRPr lang="en-IN"/>
          </a:p>
        </p:txBody>
      </p:sp>
      <p:sp>
        <p:nvSpPr>
          <p:cNvPr id="8" name="Text 6"/>
          <p:cNvSpPr txBox="1"/>
          <p:nvPr/>
        </p:nvSpPr>
        <p:spPr>
          <a:xfrm>
            <a:off x="457200" y="21671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051560" y="2148840"/>
            <a:ext cx="4114800" cy="292608"/>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Similar-sounding songs are hard to find</a:t>
            </a:r>
            <a:endParaRPr lang="en-US" sz="1800" dirty="0"/>
          </a:p>
        </p:txBody>
      </p:sp>
      <p:sp>
        <p:nvSpPr>
          <p:cNvPr id="10" name="Text 8"/>
          <p:cNvSpPr txBox="1"/>
          <p:nvPr/>
        </p:nvSpPr>
        <p:spPr>
          <a:xfrm>
            <a:off x="1051560" y="2478024"/>
            <a:ext cx="4114800" cy="59436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Listeners struggle to discover songs with similar audio characteristics.</a:t>
            </a:r>
            <a:endParaRPr lang="en-US" sz="1400" dirty="0"/>
          </a:p>
        </p:txBody>
      </p:sp>
      <p:sp>
        <p:nvSpPr>
          <p:cNvPr id="11" name="Shape 9"/>
          <p:cNvSpPr/>
          <p:nvPr/>
        </p:nvSpPr>
        <p:spPr>
          <a:xfrm>
            <a:off x="457200" y="3191256"/>
            <a:ext cx="411480" cy="411480"/>
          </a:xfrm>
          <a:prstGeom prst="ellipse">
            <a:avLst/>
          </a:prstGeom>
          <a:solidFill>
            <a:srgbClr val="0F7C8A"/>
          </a:solidFill>
          <a:ln/>
        </p:spPr>
        <p:txBody>
          <a:bodyPr/>
          <a:lstStyle/>
          <a:p>
            <a:endParaRPr lang="en-IN"/>
          </a:p>
        </p:txBody>
      </p:sp>
      <p:sp>
        <p:nvSpPr>
          <p:cNvPr id="12" name="Text 10"/>
          <p:cNvSpPr txBox="1"/>
          <p:nvPr/>
        </p:nvSpPr>
        <p:spPr>
          <a:xfrm>
            <a:off x="457200" y="319125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051560" y="3172968"/>
            <a:ext cx="4114800" cy="292608"/>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Titles and genres are not enough</a:t>
            </a:r>
            <a:endParaRPr lang="en-US" sz="1800" dirty="0"/>
          </a:p>
        </p:txBody>
      </p:sp>
      <p:sp>
        <p:nvSpPr>
          <p:cNvPr id="14" name="Text 12"/>
          <p:cNvSpPr txBox="1"/>
          <p:nvPr/>
        </p:nvSpPr>
        <p:spPr>
          <a:xfrm>
            <a:off x="1051560" y="3502152"/>
            <a:ext cx="4114800" cy="59436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Listening taste is not fully captured by song titles or genre labels. Measurable audio features offer a systematic alternative.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2</a:t>
            </a:fld>
            <a:endParaRPr lang="en-US"/>
          </a:p>
        </p:txBody>
      </p:sp>
      <p:sp>
        <p:nvSpPr>
          <p:cNvPr id="21" name="Rectangle 20">
            <a:extLst>
              <a:ext uri="{FF2B5EF4-FFF2-40B4-BE49-F238E27FC236}">
                <a16:creationId xmlns:a16="http://schemas.microsoft.com/office/drawing/2014/main" id="{A6BFC821-7ADC-8D9F-E688-B64DB2188AE3}"/>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Project Objectives</a:t>
            </a:r>
            <a:endParaRPr lang="en-US" sz="2800" dirty="0"/>
          </a:p>
        </p:txBody>
      </p:sp>
      <p:sp>
        <p:nvSpPr>
          <p:cNvPr id="3" name="Text 1"/>
          <p:cNvSpPr txBox="1"/>
          <p:nvPr/>
        </p:nvSpPr>
        <p:spPr>
          <a:xfrm>
            <a:off x="457200" y="1097280"/>
            <a:ext cx="822960" cy="548640"/>
          </a:xfrm>
          <a:prstGeom prst="rect">
            <a:avLst/>
          </a:prstGeom>
          <a:noFill/>
          <a:ln/>
        </p:spPr>
        <p:txBody>
          <a:bodyPr wrap="square" lIns="0" tIns="0" rIns="0" bIns="0" rtlCol="0" anchor="ctr"/>
          <a:lstStyle/>
          <a:p>
            <a:pPr marL="0" indent="0">
              <a:buNone/>
            </a:pPr>
            <a:r>
              <a:rPr lang="en-US" sz="3200" b="1" dirty="0">
                <a:solidFill>
                  <a:srgbClr val="0F7C8A"/>
                </a:solidFill>
                <a:latin typeface="Calibri" pitchFamily="34" charset="0"/>
                <a:ea typeface="Calibri" pitchFamily="34" charset="-122"/>
                <a:cs typeface="Calibri" pitchFamily="34" charset="-120"/>
              </a:rPr>
              <a:t>01</a:t>
            </a:r>
            <a:endParaRPr lang="en-US" sz="3200" dirty="0"/>
          </a:p>
        </p:txBody>
      </p:sp>
      <p:sp>
        <p:nvSpPr>
          <p:cNvPr id="4" name="Text 2"/>
          <p:cNvSpPr txBox="1"/>
          <p:nvPr/>
        </p:nvSpPr>
        <p:spPr>
          <a:xfrm>
            <a:off x="1371600" y="1097280"/>
            <a:ext cx="3291840" cy="548640"/>
          </a:xfrm>
          <a:prstGeom prst="rect">
            <a:avLst/>
          </a:prstGeom>
          <a:noFill/>
          <a:ln/>
        </p:spPr>
        <p:txBody>
          <a:bodyPr wrap="square" lIns="0" tIns="0" rIns="0" bIns="0" rtlCol="0" anchor="ctr"/>
          <a:lstStyle/>
          <a:p>
            <a:pPr marL="0" indent="0">
              <a:buNone/>
            </a:pPr>
            <a:r>
              <a:rPr lang="en-US" sz="1800" b="1" dirty="0">
                <a:solidFill>
                  <a:srgbClr val="14284B"/>
                </a:solidFill>
                <a:latin typeface="Calibri" pitchFamily="34" charset="0"/>
                <a:ea typeface="Calibri" pitchFamily="34" charset="-122"/>
                <a:cs typeface="Calibri" pitchFamily="34" charset="-120"/>
              </a:rPr>
              <a:t>Preprocess the dataset</a:t>
            </a:r>
            <a:endParaRPr lang="en-US" sz="1800" dirty="0"/>
          </a:p>
        </p:txBody>
      </p:sp>
      <p:sp>
        <p:nvSpPr>
          <p:cNvPr id="5" name="Text 3"/>
          <p:cNvSpPr txBox="1"/>
          <p:nvPr/>
        </p:nvSpPr>
        <p:spPr>
          <a:xfrm>
            <a:off x="4754880" y="1097280"/>
            <a:ext cx="3931920" cy="5486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Clean the music data and prepare the audio features for modelling.</a:t>
            </a:r>
            <a:endParaRPr lang="en-US" sz="1400" dirty="0"/>
          </a:p>
        </p:txBody>
      </p:sp>
      <p:sp>
        <p:nvSpPr>
          <p:cNvPr id="6" name="Shape 4"/>
          <p:cNvSpPr/>
          <p:nvPr/>
        </p:nvSpPr>
        <p:spPr>
          <a:xfrm>
            <a:off x="457200" y="1728216"/>
            <a:ext cx="8229600" cy="0"/>
          </a:xfrm>
          <a:prstGeom prst="line">
            <a:avLst/>
          </a:prstGeom>
          <a:noFill/>
          <a:ln w="19050">
            <a:solidFill>
              <a:srgbClr val="C9D3E0"/>
            </a:solidFill>
            <a:prstDash val="solid"/>
          </a:ln>
        </p:spPr>
        <p:txBody>
          <a:bodyPr/>
          <a:lstStyle/>
          <a:p>
            <a:endParaRPr lang="en-IN"/>
          </a:p>
        </p:txBody>
      </p:sp>
      <p:sp>
        <p:nvSpPr>
          <p:cNvPr id="7" name="Text 5"/>
          <p:cNvSpPr txBox="1"/>
          <p:nvPr/>
        </p:nvSpPr>
        <p:spPr>
          <a:xfrm>
            <a:off x="457200" y="1801368"/>
            <a:ext cx="822960" cy="548640"/>
          </a:xfrm>
          <a:prstGeom prst="rect">
            <a:avLst/>
          </a:prstGeom>
          <a:noFill/>
          <a:ln/>
        </p:spPr>
        <p:txBody>
          <a:bodyPr wrap="square" lIns="0" tIns="0" rIns="0" bIns="0" rtlCol="0" anchor="ctr"/>
          <a:lstStyle/>
          <a:p>
            <a:pPr marL="0" indent="0">
              <a:buNone/>
            </a:pPr>
            <a:r>
              <a:rPr lang="en-US" sz="3200" b="1" dirty="0">
                <a:solidFill>
                  <a:srgbClr val="0F7C8A"/>
                </a:solidFill>
                <a:latin typeface="Calibri" pitchFamily="34" charset="0"/>
                <a:ea typeface="Calibri" pitchFamily="34" charset="-122"/>
                <a:cs typeface="Calibri" pitchFamily="34" charset="-120"/>
              </a:rPr>
              <a:t>02</a:t>
            </a:r>
            <a:endParaRPr lang="en-US" sz="3200" dirty="0"/>
          </a:p>
        </p:txBody>
      </p:sp>
      <p:sp>
        <p:nvSpPr>
          <p:cNvPr id="8" name="Text 6"/>
          <p:cNvSpPr txBox="1"/>
          <p:nvPr/>
        </p:nvSpPr>
        <p:spPr>
          <a:xfrm>
            <a:off x="1371600" y="1801368"/>
            <a:ext cx="3291840" cy="548640"/>
          </a:xfrm>
          <a:prstGeom prst="rect">
            <a:avLst/>
          </a:prstGeom>
          <a:noFill/>
          <a:ln/>
        </p:spPr>
        <p:txBody>
          <a:bodyPr wrap="square" lIns="0" tIns="0" rIns="0" bIns="0" rtlCol="0" anchor="ctr"/>
          <a:lstStyle/>
          <a:p>
            <a:pPr marL="0" indent="0">
              <a:buNone/>
            </a:pPr>
            <a:r>
              <a:rPr lang="en-US" sz="1800" b="1" dirty="0">
                <a:solidFill>
                  <a:srgbClr val="14284B"/>
                </a:solidFill>
                <a:latin typeface="Calibri" pitchFamily="34" charset="0"/>
                <a:ea typeface="Calibri" pitchFamily="34" charset="-122"/>
                <a:cs typeface="Calibri" pitchFamily="34" charset="-120"/>
              </a:rPr>
              <a:t>Train and compare ML models</a:t>
            </a:r>
            <a:endParaRPr lang="en-US" sz="1800" dirty="0"/>
          </a:p>
        </p:txBody>
      </p:sp>
      <p:sp>
        <p:nvSpPr>
          <p:cNvPr id="9" name="Text 7"/>
          <p:cNvSpPr txBox="1"/>
          <p:nvPr/>
        </p:nvSpPr>
        <p:spPr>
          <a:xfrm>
            <a:off x="4754880" y="1801368"/>
            <a:ext cx="3931920" cy="5486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Train five classifiers on the same data and evaluate them with standard metrics.</a:t>
            </a:r>
            <a:endParaRPr lang="en-US" sz="1400" dirty="0"/>
          </a:p>
        </p:txBody>
      </p:sp>
      <p:sp>
        <p:nvSpPr>
          <p:cNvPr id="10" name="Shape 8"/>
          <p:cNvSpPr/>
          <p:nvPr/>
        </p:nvSpPr>
        <p:spPr>
          <a:xfrm>
            <a:off x="457200" y="2432304"/>
            <a:ext cx="8229600" cy="0"/>
          </a:xfrm>
          <a:prstGeom prst="line">
            <a:avLst/>
          </a:prstGeom>
          <a:noFill/>
          <a:ln w="19050">
            <a:solidFill>
              <a:srgbClr val="C9D3E0"/>
            </a:solidFill>
            <a:prstDash val="solid"/>
          </a:ln>
        </p:spPr>
        <p:txBody>
          <a:bodyPr/>
          <a:lstStyle/>
          <a:p>
            <a:endParaRPr lang="en-IN"/>
          </a:p>
        </p:txBody>
      </p:sp>
      <p:sp>
        <p:nvSpPr>
          <p:cNvPr id="11" name="Text 9"/>
          <p:cNvSpPr txBox="1"/>
          <p:nvPr/>
        </p:nvSpPr>
        <p:spPr>
          <a:xfrm>
            <a:off x="457200" y="2505456"/>
            <a:ext cx="822960" cy="548640"/>
          </a:xfrm>
          <a:prstGeom prst="rect">
            <a:avLst/>
          </a:prstGeom>
          <a:noFill/>
          <a:ln/>
        </p:spPr>
        <p:txBody>
          <a:bodyPr wrap="square" lIns="0" tIns="0" rIns="0" bIns="0" rtlCol="0" anchor="ctr"/>
          <a:lstStyle/>
          <a:p>
            <a:pPr marL="0" indent="0">
              <a:buNone/>
            </a:pPr>
            <a:r>
              <a:rPr lang="en-US" sz="3200" b="1" dirty="0">
                <a:solidFill>
                  <a:srgbClr val="0F7C8A"/>
                </a:solidFill>
                <a:latin typeface="Calibri" pitchFamily="34" charset="0"/>
                <a:ea typeface="Calibri" pitchFamily="34" charset="-122"/>
                <a:cs typeface="Calibri" pitchFamily="34" charset="-120"/>
              </a:rPr>
              <a:t>03</a:t>
            </a:r>
            <a:endParaRPr lang="en-US" sz="3200" dirty="0"/>
          </a:p>
        </p:txBody>
      </p:sp>
      <p:sp>
        <p:nvSpPr>
          <p:cNvPr id="12" name="Text 10"/>
          <p:cNvSpPr txBox="1"/>
          <p:nvPr/>
        </p:nvSpPr>
        <p:spPr>
          <a:xfrm>
            <a:off x="1371600" y="2505456"/>
            <a:ext cx="3291840" cy="548640"/>
          </a:xfrm>
          <a:prstGeom prst="rect">
            <a:avLst/>
          </a:prstGeom>
          <a:noFill/>
          <a:ln/>
        </p:spPr>
        <p:txBody>
          <a:bodyPr wrap="square" lIns="0" tIns="0" rIns="0" bIns="0" rtlCol="0" anchor="ctr"/>
          <a:lstStyle/>
          <a:p>
            <a:pPr marL="0" indent="0">
              <a:buNone/>
            </a:pPr>
            <a:r>
              <a:rPr lang="en-US" sz="1800" b="1" dirty="0">
                <a:solidFill>
                  <a:srgbClr val="14284B"/>
                </a:solidFill>
                <a:latin typeface="Calibri" pitchFamily="34" charset="0"/>
                <a:ea typeface="Calibri" pitchFamily="34" charset="-122"/>
                <a:cs typeface="Calibri" pitchFamily="34" charset="-120"/>
              </a:rPr>
              <a:t>Predict the playlist category</a:t>
            </a:r>
            <a:endParaRPr lang="en-US" sz="1800" dirty="0"/>
          </a:p>
        </p:txBody>
      </p:sp>
      <p:sp>
        <p:nvSpPr>
          <p:cNvPr id="13" name="Text 11"/>
          <p:cNvSpPr txBox="1"/>
          <p:nvPr/>
        </p:nvSpPr>
        <p:spPr>
          <a:xfrm>
            <a:off x="4754880" y="2505456"/>
            <a:ext cx="3931920" cy="5486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Given a song's audio features, predict which playlist it belongs to.</a:t>
            </a:r>
            <a:endParaRPr lang="en-US" sz="1400" dirty="0"/>
          </a:p>
        </p:txBody>
      </p:sp>
      <p:sp>
        <p:nvSpPr>
          <p:cNvPr id="14" name="Shape 12"/>
          <p:cNvSpPr/>
          <p:nvPr/>
        </p:nvSpPr>
        <p:spPr>
          <a:xfrm>
            <a:off x="457200" y="3136392"/>
            <a:ext cx="8229600" cy="0"/>
          </a:xfrm>
          <a:prstGeom prst="line">
            <a:avLst/>
          </a:prstGeom>
          <a:noFill/>
          <a:ln w="19050">
            <a:solidFill>
              <a:srgbClr val="C9D3E0"/>
            </a:solidFill>
            <a:prstDash val="solid"/>
          </a:ln>
        </p:spPr>
        <p:txBody>
          <a:bodyPr/>
          <a:lstStyle/>
          <a:p>
            <a:endParaRPr lang="en-IN"/>
          </a:p>
        </p:txBody>
      </p:sp>
      <p:sp>
        <p:nvSpPr>
          <p:cNvPr id="15" name="Text 13"/>
          <p:cNvSpPr txBox="1"/>
          <p:nvPr/>
        </p:nvSpPr>
        <p:spPr>
          <a:xfrm>
            <a:off x="457200" y="3209544"/>
            <a:ext cx="822960" cy="548640"/>
          </a:xfrm>
          <a:prstGeom prst="rect">
            <a:avLst/>
          </a:prstGeom>
          <a:noFill/>
          <a:ln/>
        </p:spPr>
        <p:txBody>
          <a:bodyPr wrap="square" lIns="0" tIns="0" rIns="0" bIns="0" rtlCol="0" anchor="ctr"/>
          <a:lstStyle/>
          <a:p>
            <a:pPr marL="0" indent="0">
              <a:buNone/>
            </a:pPr>
            <a:r>
              <a:rPr lang="en-US" sz="3200" b="1" dirty="0">
                <a:solidFill>
                  <a:srgbClr val="0F7C8A"/>
                </a:solidFill>
                <a:latin typeface="Calibri" pitchFamily="34" charset="0"/>
                <a:ea typeface="Calibri" pitchFamily="34" charset="-122"/>
                <a:cs typeface="Calibri" pitchFamily="34" charset="-120"/>
              </a:rPr>
              <a:t>04</a:t>
            </a:r>
            <a:endParaRPr lang="en-US" sz="3200" dirty="0"/>
          </a:p>
        </p:txBody>
      </p:sp>
      <p:sp>
        <p:nvSpPr>
          <p:cNvPr id="16" name="Text 14"/>
          <p:cNvSpPr txBox="1"/>
          <p:nvPr/>
        </p:nvSpPr>
        <p:spPr>
          <a:xfrm>
            <a:off x="1371600" y="3209544"/>
            <a:ext cx="3291840" cy="548640"/>
          </a:xfrm>
          <a:prstGeom prst="rect">
            <a:avLst/>
          </a:prstGeom>
          <a:noFill/>
          <a:ln/>
        </p:spPr>
        <p:txBody>
          <a:bodyPr wrap="square" lIns="0" tIns="0" rIns="0" bIns="0" rtlCol="0" anchor="ctr"/>
          <a:lstStyle/>
          <a:p>
            <a:pPr marL="0" indent="0">
              <a:buNone/>
            </a:pPr>
            <a:r>
              <a:rPr lang="en-US" sz="1800" b="1" dirty="0">
                <a:solidFill>
                  <a:srgbClr val="14284B"/>
                </a:solidFill>
                <a:latin typeface="Calibri" pitchFamily="34" charset="0"/>
                <a:ea typeface="Calibri" pitchFamily="34" charset="-122"/>
                <a:cs typeface="Calibri" pitchFamily="34" charset="-120"/>
              </a:rPr>
              <a:t>Recommend similar songs</a:t>
            </a:r>
            <a:endParaRPr lang="en-US" sz="1800" dirty="0"/>
          </a:p>
        </p:txBody>
      </p:sp>
      <p:sp>
        <p:nvSpPr>
          <p:cNvPr id="17" name="Text 15"/>
          <p:cNvSpPr txBox="1"/>
          <p:nvPr/>
        </p:nvSpPr>
        <p:spPr>
          <a:xfrm>
            <a:off x="4754880" y="3209544"/>
            <a:ext cx="3931920" cy="5486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Rank songs by cosine similarity of their audio features.</a:t>
            </a:r>
            <a:endParaRPr lang="en-US" sz="1400" dirty="0"/>
          </a:p>
        </p:txBody>
      </p:sp>
      <p:sp>
        <p:nvSpPr>
          <p:cNvPr id="18" name="Shape 16"/>
          <p:cNvSpPr/>
          <p:nvPr/>
        </p:nvSpPr>
        <p:spPr>
          <a:xfrm>
            <a:off x="457200" y="3840480"/>
            <a:ext cx="8229600" cy="0"/>
          </a:xfrm>
          <a:prstGeom prst="line">
            <a:avLst/>
          </a:prstGeom>
          <a:noFill/>
          <a:ln w="19050">
            <a:solidFill>
              <a:srgbClr val="C9D3E0"/>
            </a:solidFill>
            <a:prstDash val="solid"/>
          </a:ln>
        </p:spPr>
        <p:txBody>
          <a:bodyPr/>
          <a:lstStyle/>
          <a:p>
            <a:endParaRPr lang="en-IN"/>
          </a:p>
        </p:txBody>
      </p:sp>
      <p:sp>
        <p:nvSpPr>
          <p:cNvPr id="19" name="Text 17"/>
          <p:cNvSpPr txBox="1"/>
          <p:nvPr/>
        </p:nvSpPr>
        <p:spPr>
          <a:xfrm>
            <a:off x="457200" y="3913632"/>
            <a:ext cx="822960" cy="548640"/>
          </a:xfrm>
          <a:prstGeom prst="rect">
            <a:avLst/>
          </a:prstGeom>
          <a:noFill/>
          <a:ln/>
        </p:spPr>
        <p:txBody>
          <a:bodyPr wrap="square" lIns="0" tIns="0" rIns="0" bIns="0" rtlCol="0" anchor="ctr"/>
          <a:lstStyle/>
          <a:p>
            <a:pPr marL="0" indent="0">
              <a:buNone/>
            </a:pPr>
            <a:r>
              <a:rPr lang="en-US" sz="3200" b="1" dirty="0">
                <a:solidFill>
                  <a:srgbClr val="0F7C8A"/>
                </a:solidFill>
                <a:latin typeface="Calibri" pitchFamily="34" charset="0"/>
                <a:ea typeface="Calibri" pitchFamily="34" charset="-122"/>
                <a:cs typeface="Calibri" pitchFamily="34" charset="-120"/>
              </a:rPr>
              <a:t>05</a:t>
            </a:r>
            <a:endParaRPr lang="en-US" sz="3200" dirty="0"/>
          </a:p>
        </p:txBody>
      </p:sp>
      <p:sp>
        <p:nvSpPr>
          <p:cNvPr id="20" name="Text 18"/>
          <p:cNvSpPr txBox="1"/>
          <p:nvPr/>
        </p:nvSpPr>
        <p:spPr>
          <a:xfrm>
            <a:off x="1371600" y="3913632"/>
            <a:ext cx="3291840" cy="548640"/>
          </a:xfrm>
          <a:prstGeom prst="rect">
            <a:avLst/>
          </a:prstGeom>
          <a:noFill/>
          <a:ln/>
        </p:spPr>
        <p:txBody>
          <a:bodyPr wrap="square" lIns="0" tIns="0" rIns="0" bIns="0" rtlCol="0" anchor="ctr"/>
          <a:lstStyle/>
          <a:p>
            <a:pPr marL="0" indent="0">
              <a:buNone/>
            </a:pPr>
            <a:r>
              <a:rPr lang="en-US" sz="1800" b="1" dirty="0">
                <a:solidFill>
                  <a:srgbClr val="14284B"/>
                </a:solidFill>
                <a:latin typeface="Calibri" pitchFamily="34" charset="0"/>
                <a:ea typeface="Calibri" pitchFamily="34" charset="-122"/>
                <a:cs typeface="Calibri" pitchFamily="34" charset="-120"/>
              </a:rPr>
              <a:t>Build a web application</a:t>
            </a:r>
            <a:endParaRPr lang="en-US" sz="1800" dirty="0"/>
          </a:p>
        </p:txBody>
      </p:sp>
      <p:sp>
        <p:nvSpPr>
          <p:cNvPr id="21" name="Text 19"/>
          <p:cNvSpPr txBox="1"/>
          <p:nvPr/>
        </p:nvSpPr>
        <p:spPr>
          <a:xfrm>
            <a:off x="4754880" y="3913632"/>
            <a:ext cx="3931920" cy="5486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Interactive React + FastAPI app, with music previews where available.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3</a:t>
            </a:fld>
            <a:endParaRPr lang="en-US"/>
          </a:p>
        </p:txBody>
      </p:sp>
      <p:sp>
        <p:nvSpPr>
          <p:cNvPr id="22" name="Rectangle 21">
            <a:extLst>
              <a:ext uri="{FF2B5EF4-FFF2-40B4-BE49-F238E27FC236}">
                <a16:creationId xmlns:a16="http://schemas.microsoft.com/office/drawing/2014/main" id="{83D2394F-634D-7429-5FDD-468C3BE15EC6}"/>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Dataset and Audio Features</a:t>
            </a:r>
            <a:endParaRPr lang="en-US" sz="2800" dirty="0"/>
          </a:p>
        </p:txBody>
      </p:sp>
      <p:sp>
        <p:nvSpPr>
          <p:cNvPr id="3" name="Shape 1"/>
          <p:cNvSpPr/>
          <p:nvPr/>
        </p:nvSpPr>
        <p:spPr>
          <a:xfrm>
            <a:off x="457200" y="1143000"/>
            <a:ext cx="2194560" cy="822960"/>
          </a:xfrm>
          <a:prstGeom prst="rect">
            <a:avLst/>
          </a:prstGeom>
          <a:solidFill>
            <a:srgbClr val="EEF2F7"/>
          </a:solidFill>
          <a:ln/>
        </p:spPr>
        <p:txBody>
          <a:bodyPr/>
          <a:lstStyle/>
          <a:p>
            <a:endParaRPr lang="en-IN"/>
          </a:p>
        </p:txBody>
      </p:sp>
      <p:sp>
        <p:nvSpPr>
          <p:cNvPr id="4" name="Text 2"/>
          <p:cNvSpPr txBox="1"/>
          <p:nvPr/>
        </p:nvSpPr>
        <p:spPr>
          <a:xfrm>
            <a:off x="594360" y="1143000"/>
            <a:ext cx="1051560" cy="822960"/>
          </a:xfrm>
          <a:prstGeom prst="rect">
            <a:avLst/>
          </a:prstGeom>
          <a:noFill/>
          <a:ln/>
        </p:spPr>
        <p:txBody>
          <a:bodyPr wrap="square" lIns="0" tIns="0" rIns="0" bIns="0" rtlCol="0" anchor="ctr"/>
          <a:lstStyle/>
          <a:p>
            <a:pPr marL="0" indent="0">
              <a:buNone/>
            </a:pPr>
            <a:r>
              <a:rPr lang="en-US" sz="3200" b="1" dirty="0">
                <a:solidFill>
                  <a:srgbClr val="14284B"/>
                </a:solidFill>
                <a:latin typeface="Calibri" pitchFamily="34" charset="0"/>
                <a:ea typeface="Calibri" pitchFamily="34" charset="-122"/>
                <a:cs typeface="Calibri" pitchFamily="34" charset="-120"/>
              </a:rPr>
              <a:t>5,721</a:t>
            </a:r>
            <a:endParaRPr lang="en-US" sz="3200" dirty="0"/>
          </a:p>
        </p:txBody>
      </p:sp>
      <p:sp>
        <p:nvSpPr>
          <p:cNvPr id="5" name="Text 3"/>
          <p:cNvSpPr txBox="1"/>
          <p:nvPr/>
        </p:nvSpPr>
        <p:spPr>
          <a:xfrm>
            <a:off x="1645920" y="1143000"/>
            <a:ext cx="960120" cy="822960"/>
          </a:xfrm>
          <a:prstGeom prst="rect">
            <a:avLst/>
          </a:prstGeom>
          <a:noFill/>
          <a:ln/>
        </p:spPr>
        <p:txBody>
          <a:bodyPr wrap="square" lIns="0" tIns="0" rIns="0" bIns="0" rtlCol="0" anchor="ctr"/>
          <a:lstStyle/>
          <a:p>
            <a:pPr marL="0" indent="0">
              <a:buNone/>
            </a:pPr>
            <a:r>
              <a:rPr lang="en-US" sz="1300" dirty="0">
                <a:solidFill>
                  <a:srgbClr val="1F2A3C"/>
                </a:solidFill>
                <a:latin typeface="Calibri" pitchFamily="34" charset="0"/>
                <a:ea typeface="Calibri" pitchFamily="34" charset="-122"/>
                <a:cs typeface="Calibri" pitchFamily="34" charset="-120"/>
              </a:rPr>
              <a:t>songs</a:t>
            </a:r>
            <a:endParaRPr lang="en-US" sz="1300" dirty="0"/>
          </a:p>
        </p:txBody>
      </p:sp>
      <p:sp>
        <p:nvSpPr>
          <p:cNvPr id="6" name="Shape 4"/>
          <p:cNvSpPr/>
          <p:nvPr/>
        </p:nvSpPr>
        <p:spPr>
          <a:xfrm>
            <a:off x="457200" y="2103120"/>
            <a:ext cx="2194560" cy="822960"/>
          </a:xfrm>
          <a:prstGeom prst="rect">
            <a:avLst/>
          </a:prstGeom>
          <a:solidFill>
            <a:srgbClr val="EEF2F7"/>
          </a:solidFill>
          <a:ln/>
        </p:spPr>
        <p:txBody>
          <a:bodyPr/>
          <a:lstStyle/>
          <a:p>
            <a:endParaRPr lang="en-IN"/>
          </a:p>
        </p:txBody>
      </p:sp>
      <p:sp>
        <p:nvSpPr>
          <p:cNvPr id="7" name="Text 5"/>
          <p:cNvSpPr txBox="1"/>
          <p:nvPr/>
        </p:nvSpPr>
        <p:spPr>
          <a:xfrm>
            <a:off x="594360" y="2103120"/>
            <a:ext cx="1051560" cy="822960"/>
          </a:xfrm>
          <a:prstGeom prst="rect">
            <a:avLst/>
          </a:prstGeom>
          <a:noFill/>
          <a:ln/>
        </p:spPr>
        <p:txBody>
          <a:bodyPr wrap="square" lIns="0" tIns="0" rIns="0" bIns="0" rtlCol="0" anchor="ctr"/>
          <a:lstStyle/>
          <a:p>
            <a:pPr marL="0" indent="0">
              <a:buNone/>
            </a:pPr>
            <a:r>
              <a:rPr lang="en-US" sz="3200" b="1" dirty="0">
                <a:solidFill>
                  <a:srgbClr val="14284B"/>
                </a:solidFill>
                <a:latin typeface="Calibri" pitchFamily="34" charset="0"/>
                <a:ea typeface="Calibri" pitchFamily="34" charset="-122"/>
                <a:cs typeface="Calibri" pitchFamily="34" charset="-120"/>
              </a:rPr>
              <a:t>12</a:t>
            </a:r>
            <a:endParaRPr lang="en-US" sz="3200" dirty="0"/>
          </a:p>
        </p:txBody>
      </p:sp>
      <p:sp>
        <p:nvSpPr>
          <p:cNvPr id="8" name="Text 6"/>
          <p:cNvSpPr txBox="1"/>
          <p:nvPr/>
        </p:nvSpPr>
        <p:spPr>
          <a:xfrm>
            <a:off x="1645920" y="2103120"/>
            <a:ext cx="960120" cy="822960"/>
          </a:xfrm>
          <a:prstGeom prst="rect">
            <a:avLst/>
          </a:prstGeom>
          <a:noFill/>
          <a:ln/>
        </p:spPr>
        <p:txBody>
          <a:bodyPr wrap="square" lIns="0" tIns="0" rIns="0" bIns="0" rtlCol="0" anchor="ctr"/>
          <a:lstStyle/>
          <a:p>
            <a:pPr marL="0" indent="0">
              <a:buNone/>
            </a:pPr>
            <a:r>
              <a:rPr lang="en-US" sz="1300" dirty="0">
                <a:solidFill>
                  <a:srgbClr val="1F2A3C"/>
                </a:solidFill>
                <a:latin typeface="Calibri" pitchFamily="34" charset="0"/>
                <a:ea typeface="Calibri" pitchFamily="34" charset="-122"/>
                <a:cs typeface="Calibri" pitchFamily="34" charset="-120"/>
              </a:rPr>
              <a:t>playlist categories</a:t>
            </a:r>
            <a:endParaRPr lang="en-US" sz="1300" dirty="0"/>
          </a:p>
        </p:txBody>
      </p:sp>
      <p:sp>
        <p:nvSpPr>
          <p:cNvPr id="9" name="Shape 7"/>
          <p:cNvSpPr/>
          <p:nvPr/>
        </p:nvSpPr>
        <p:spPr>
          <a:xfrm>
            <a:off x="457200" y="3063240"/>
            <a:ext cx="2194560" cy="822960"/>
          </a:xfrm>
          <a:prstGeom prst="rect">
            <a:avLst/>
          </a:prstGeom>
          <a:solidFill>
            <a:srgbClr val="EEF2F7"/>
          </a:solidFill>
          <a:ln/>
        </p:spPr>
        <p:txBody>
          <a:bodyPr/>
          <a:lstStyle/>
          <a:p>
            <a:endParaRPr lang="en-IN"/>
          </a:p>
        </p:txBody>
      </p:sp>
      <p:sp>
        <p:nvSpPr>
          <p:cNvPr id="10" name="Text 8"/>
          <p:cNvSpPr txBox="1"/>
          <p:nvPr/>
        </p:nvSpPr>
        <p:spPr>
          <a:xfrm>
            <a:off x="594360" y="3063240"/>
            <a:ext cx="1051560" cy="822960"/>
          </a:xfrm>
          <a:prstGeom prst="rect">
            <a:avLst/>
          </a:prstGeom>
          <a:noFill/>
          <a:ln/>
        </p:spPr>
        <p:txBody>
          <a:bodyPr wrap="square" lIns="0" tIns="0" rIns="0" bIns="0" rtlCol="0" anchor="ctr"/>
          <a:lstStyle/>
          <a:p>
            <a:pPr marL="0" indent="0">
              <a:buNone/>
            </a:pPr>
            <a:r>
              <a:rPr lang="en-US" sz="3200" b="1" dirty="0">
                <a:solidFill>
                  <a:srgbClr val="14284B"/>
                </a:solidFill>
                <a:latin typeface="Calibri" pitchFamily="34" charset="0"/>
                <a:ea typeface="Calibri" pitchFamily="34" charset="-122"/>
                <a:cs typeface="Calibri" pitchFamily="34" charset="-120"/>
              </a:rPr>
              <a:t>11</a:t>
            </a:r>
            <a:endParaRPr lang="en-US" sz="3200" dirty="0"/>
          </a:p>
        </p:txBody>
      </p:sp>
      <p:sp>
        <p:nvSpPr>
          <p:cNvPr id="11" name="Text 9"/>
          <p:cNvSpPr txBox="1"/>
          <p:nvPr/>
        </p:nvSpPr>
        <p:spPr>
          <a:xfrm>
            <a:off x="1645920" y="3063240"/>
            <a:ext cx="960120" cy="822960"/>
          </a:xfrm>
          <a:prstGeom prst="rect">
            <a:avLst/>
          </a:prstGeom>
          <a:noFill/>
          <a:ln/>
        </p:spPr>
        <p:txBody>
          <a:bodyPr wrap="square" lIns="0" tIns="0" rIns="0" bIns="0" rtlCol="0" anchor="ctr"/>
          <a:lstStyle/>
          <a:p>
            <a:pPr marL="0" indent="0">
              <a:buNone/>
            </a:pPr>
            <a:r>
              <a:rPr lang="en-US" sz="1300" dirty="0">
                <a:solidFill>
                  <a:srgbClr val="1F2A3C"/>
                </a:solidFill>
                <a:latin typeface="Calibri" pitchFamily="34" charset="0"/>
                <a:ea typeface="Calibri" pitchFamily="34" charset="-122"/>
                <a:cs typeface="Calibri" pitchFamily="34" charset="-120"/>
              </a:rPr>
              <a:t>audio features</a:t>
            </a:r>
            <a:endParaRPr lang="en-US" sz="1300" dirty="0"/>
          </a:p>
        </p:txBody>
      </p:sp>
      <p:sp>
        <p:nvSpPr>
          <p:cNvPr id="12" name="Shape 10"/>
          <p:cNvSpPr/>
          <p:nvPr/>
        </p:nvSpPr>
        <p:spPr>
          <a:xfrm>
            <a:off x="457200" y="4023360"/>
            <a:ext cx="2194560" cy="594360"/>
          </a:xfrm>
          <a:prstGeom prst="rect">
            <a:avLst/>
          </a:prstGeom>
          <a:solidFill>
            <a:srgbClr val="E3F1F2"/>
          </a:solidFill>
          <a:ln/>
        </p:spPr>
        <p:txBody>
          <a:bodyPr/>
          <a:lstStyle/>
          <a:p>
            <a:endParaRPr lang="en-IN"/>
          </a:p>
        </p:txBody>
      </p:sp>
      <p:sp>
        <p:nvSpPr>
          <p:cNvPr id="13" name="Text 11"/>
          <p:cNvSpPr txBox="1"/>
          <p:nvPr/>
        </p:nvSpPr>
        <p:spPr>
          <a:xfrm>
            <a:off x="566928" y="4023360"/>
            <a:ext cx="2011680" cy="594360"/>
          </a:xfrm>
          <a:prstGeom prst="rect">
            <a:avLst/>
          </a:prstGeom>
          <a:noFill/>
          <a:ln/>
        </p:spPr>
        <p:txBody>
          <a:bodyPr wrap="square" lIns="0" tIns="0" rIns="0" bIns="0" rtlCol="0" anchor="ctr"/>
          <a:lstStyle/>
          <a:p>
            <a:pPr marL="0" indent="0">
              <a:buNone/>
            </a:pPr>
            <a:r>
              <a:rPr lang="en-US" sz="1300" b="1" dirty="0">
                <a:solidFill>
                  <a:srgbClr val="14284B"/>
                </a:solidFill>
                <a:latin typeface="Calibri" pitchFamily="34" charset="0"/>
                <a:ea typeface="Calibri" pitchFamily="34" charset="-122"/>
                <a:cs typeface="Calibri" pitchFamily="34" charset="-120"/>
              </a:rPr>
              <a:t>Target label: </a:t>
            </a:r>
            <a:r>
              <a:rPr lang="en-US" sz="1300" dirty="0">
                <a:solidFill>
                  <a:srgbClr val="1F2A3C"/>
                </a:solidFill>
                <a:latin typeface="Calibri" pitchFamily="34" charset="0"/>
                <a:ea typeface="Calibri" pitchFamily="34" charset="-122"/>
                <a:cs typeface="Calibri" pitchFamily="34" charset="-120"/>
              </a:rPr>
              <a:t>playlist (1 of 12 classes)</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017520" y="1143000"/>
          <a:ext cx="5669280" cy="2304288"/>
        </p:xfrm>
        <a:graphic>
          <a:graphicData uri="http://schemas.openxmlformats.org/drawingml/2006/table">
            <a:tbl>
              <a:tblPr/>
              <a:tblGrid>
                <a:gridCol w="14630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Key feature</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describes</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extLst>
                  <a:ext uri="{0D108BD9-81ED-4DB2-BD59-A6C34878D82A}">
                    <a16:rowId xmlns:a16="http://schemas.microsoft.com/office/drawing/2014/main" val="10000"/>
                  </a:ext>
                </a:extLst>
              </a:tr>
              <a:tr h="384048">
                <a:tc>
                  <a:txBody>
                    <a:bodyPr/>
                    <a:lstStyle/>
                    <a:p>
                      <a:pPr marL="0" indent="0">
                        <a:buNone/>
                      </a:pPr>
                      <a:r>
                        <a:rPr lang="en-US" sz="1300" b="1" dirty="0">
                          <a:solidFill>
                            <a:srgbClr val="1F2A3C"/>
                          </a:solidFill>
                          <a:latin typeface="Calibri" pitchFamily="34" charset="0"/>
                          <a:ea typeface="Calibri" pitchFamily="34" charset="-122"/>
                          <a:cs typeface="Calibri" pitchFamily="34" charset="-120"/>
                        </a:rPr>
                        <a:t>Danceability</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How suitable the track is for dancing (0–1)</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300" b="1" dirty="0">
                          <a:solidFill>
                            <a:srgbClr val="1F2A3C"/>
                          </a:solidFill>
                          <a:latin typeface="Calibri" pitchFamily="34" charset="0"/>
                          <a:ea typeface="Calibri" pitchFamily="34" charset="-122"/>
                          <a:cs typeface="Calibri" pitchFamily="34" charset="-120"/>
                        </a:rPr>
                        <a:t>Energy</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Intensity and activity of the track (0–1)</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300" b="1" dirty="0">
                          <a:solidFill>
                            <a:srgbClr val="1F2A3C"/>
                          </a:solidFill>
                          <a:latin typeface="Calibri" pitchFamily="34" charset="0"/>
                          <a:ea typeface="Calibri" pitchFamily="34" charset="-122"/>
                          <a:cs typeface="Calibri" pitchFamily="34" charset="-120"/>
                        </a:rPr>
                        <a:t>Valence</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Musical positivity, from sad to happy (0–1)</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300" b="1" dirty="0">
                          <a:solidFill>
                            <a:srgbClr val="1F2A3C"/>
                          </a:solidFill>
                          <a:latin typeface="Calibri" pitchFamily="34" charset="0"/>
                          <a:ea typeface="Calibri" pitchFamily="34" charset="-122"/>
                          <a:cs typeface="Calibri" pitchFamily="34" charset="-120"/>
                        </a:rPr>
                        <a:t>Tempo</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Speed of the track in beats per minute (BPM)</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300" b="1" dirty="0">
                          <a:solidFill>
                            <a:srgbClr val="1F2A3C"/>
                          </a:solidFill>
                          <a:latin typeface="Calibri" pitchFamily="34" charset="0"/>
                          <a:ea typeface="Calibri" pitchFamily="34" charset="-122"/>
                          <a:cs typeface="Calibri" pitchFamily="34" charset="-120"/>
                        </a:rPr>
                        <a:t>Loudness</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Overall volume in decibels (dB)</a:t>
                      </a:r>
                      <a:endParaRPr lang="en-US" sz="1300" dirty="0">
                        <a:latin typeface="Calibri" charset="0"/>
                        <a:ea typeface="Calibri" charset="0"/>
                        <a:cs typeface="Calibri" charset="0"/>
                      </a:endParaRPr>
                    </a:p>
                  </a:txBody>
                  <a:tcPr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Text 12"/>
          <p:cNvSpPr txBox="1"/>
          <p:nvPr/>
        </p:nvSpPr>
        <p:spPr>
          <a:xfrm>
            <a:off x="3017520" y="3611880"/>
            <a:ext cx="5669280"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Also used: </a:t>
            </a:r>
            <a:r>
              <a:rPr lang="en-US" sz="1400" dirty="0">
                <a:solidFill>
                  <a:srgbClr val="1F2A3C"/>
                </a:solidFill>
                <a:latin typeface="Calibri" pitchFamily="34" charset="0"/>
                <a:ea typeface="Calibri" pitchFamily="34" charset="-122"/>
                <a:cs typeface="Calibri" pitchFamily="34" charset="-120"/>
              </a:rPr>
              <a:t>speechiness, acousticness, instrumentalness, liveness, key and mode.</a:t>
            </a:r>
            <a:endParaRPr lang="en-US" sz="1400" dirty="0"/>
          </a:p>
        </p:txBody>
      </p:sp>
      <p:sp>
        <p:nvSpPr>
          <p:cNvPr id="16" name="Text 13"/>
          <p:cNvSpPr txBox="1"/>
          <p:nvPr/>
        </p:nvSpPr>
        <p:spPr>
          <a:xfrm>
            <a:off x="3017520" y="4206240"/>
            <a:ext cx="5669280" cy="365760"/>
          </a:xfrm>
          <a:prstGeom prst="rect">
            <a:avLst/>
          </a:prstGeom>
          <a:noFill/>
          <a:ln/>
        </p:spPr>
        <p:txBody>
          <a:bodyPr wrap="square" lIns="0" tIns="0" rIns="0" bIns="0" rtlCol="0" anchor="t"/>
          <a:lstStyle/>
          <a:p>
            <a:pPr marL="0" indent="0">
              <a:buNone/>
            </a:pPr>
            <a:r>
              <a:rPr lang="en-US" sz="1100" dirty="0">
                <a:solidFill>
                  <a:srgbClr val="5F6B7A"/>
                </a:solidFill>
                <a:latin typeface="Calibri" pitchFamily="34" charset="0"/>
                <a:ea typeface="Calibri" pitchFamily="34" charset="-122"/>
                <a:cs typeface="Calibri" pitchFamily="34" charset="-120"/>
              </a:rPr>
              <a:t>Song, playlist and feature counts are as shown in the application dashboard.</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4</a:t>
            </a:fld>
            <a:endParaRPr lang="en-US"/>
          </a:p>
        </p:txBody>
      </p:sp>
      <p:sp>
        <p:nvSpPr>
          <p:cNvPr id="17" name="Rectangle 16">
            <a:extLst>
              <a:ext uri="{FF2B5EF4-FFF2-40B4-BE49-F238E27FC236}">
                <a16:creationId xmlns:a16="http://schemas.microsoft.com/office/drawing/2014/main" id="{F418FF2D-F9EC-4E39-FA77-DD96C731CD49}"/>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System Architecture</a:t>
            </a:r>
            <a:endParaRPr lang="en-US" sz="2800" dirty="0"/>
          </a:p>
        </p:txBody>
      </p:sp>
      <p:sp>
        <p:nvSpPr>
          <p:cNvPr id="3" name="Dataset"/>
          <p:cNvSpPr/>
          <p:nvPr/>
        </p:nvSpPr>
        <p:spPr>
          <a:xfrm>
            <a:off x="365760" y="2011680"/>
            <a:ext cx="1371600" cy="731520"/>
          </a:xfrm>
          <a:prstGeom prst="rect">
            <a:avLst/>
          </a:prstGeom>
          <a:solidFill>
            <a:srgbClr val="EEF2F7"/>
          </a:solidFill>
          <a:ln w="12700">
            <a:solidFill>
              <a:srgbClr val="C9D3E0"/>
            </a:solidFill>
            <a:prstDash val="solid"/>
          </a:ln>
        </p:spPr>
        <p:txBody>
          <a:bodyPr/>
          <a:lstStyle/>
          <a:p>
            <a:endParaRPr lang="en-IN"/>
          </a:p>
        </p:txBody>
      </p:sp>
      <p:sp>
        <p:nvSpPr>
          <p:cNvPr id="4" name="Text 2"/>
          <p:cNvSpPr txBox="1"/>
          <p:nvPr/>
        </p:nvSpPr>
        <p:spPr>
          <a:xfrm>
            <a:off x="438912" y="2011680"/>
            <a:ext cx="1225296" cy="731520"/>
          </a:xfrm>
          <a:prstGeom prst="rect">
            <a:avLst/>
          </a:prstGeom>
          <a:noFill/>
          <a:ln/>
        </p:spPr>
        <p:txBody>
          <a:bodyPr wrap="square" lIns="0" tIns="0" rIns="0" bIns="0" rtlCol="0" anchor="ctr"/>
          <a:lstStyle/>
          <a:p>
            <a:pPr marL="0" indent="0" algn="ctr">
              <a:buNone/>
            </a:pPr>
            <a:r>
              <a:rPr lang="en-US" sz="1300" dirty="0">
                <a:solidFill>
                  <a:srgbClr val="1F2A3C"/>
                </a:solidFill>
                <a:latin typeface="Calibri" pitchFamily="34" charset="0"/>
                <a:ea typeface="Calibri" pitchFamily="34" charset="-122"/>
                <a:cs typeface="Calibri" pitchFamily="34" charset="-120"/>
              </a:rPr>
              <a:t>Music dataset</a:t>
            </a:r>
            <a:endParaRPr lang="en-US" sz="1300" dirty="0"/>
          </a:p>
        </p:txBody>
      </p:sp>
      <p:sp>
        <p:nvSpPr>
          <p:cNvPr id="5" name="Preprocessing"/>
          <p:cNvSpPr/>
          <p:nvPr/>
        </p:nvSpPr>
        <p:spPr>
          <a:xfrm>
            <a:off x="2011680" y="2011680"/>
            <a:ext cx="1554480" cy="731520"/>
          </a:xfrm>
          <a:prstGeom prst="rect">
            <a:avLst/>
          </a:prstGeom>
          <a:solidFill>
            <a:srgbClr val="EEF2F7"/>
          </a:solidFill>
          <a:ln w="12700">
            <a:solidFill>
              <a:srgbClr val="C9D3E0"/>
            </a:solidFill>
            <a:prstDash val="solid"/>
          </a:ln>
        </p:spPr>
        <p:txBody>
          <a:bodyPr/>
          <a:lstStyle/>
          <a:p>
            <a:endParaRPr lang="en-IN"/>
          </a:p>
        </p:txBody>
      </p:sp>
      <p:sp>
        <p:nvSpPr>
          <p:cNvPr id="6" name="Text 4"/>
          <p:cNvSpPr txBox="1"/>
          <p:nvPr/>
        </p:nvSpPr>
        <p:spPr>
          <a:xfrm>
            <a:off x="2084832" y="2011680"/>
            <a:ext cx="1408176" cy="731520"/>
          </a:xfrm>
          <a:prstGeom prst="rect">
            <a:avLst/>
          </a:prstGeom>
          <a:noFill/>
          <a:ln/>
        </p:spPr>
        <p:txBody>
          <a:bodyPr wrap="square" lIns="0" tIns="0" rIns="0" bIns="0" rtlCol="0" anchor="ctr"/>
          <a:lstStyle/>
          <a:p>
            <a:pPr marL="0" indent="0" algn="ctr">
              <a:buNone/>
            </a:pPr>
            <a:r>
              <a:rPr lang="en-US" sz="1300" dirty="0">
                <a:solidFill>
                  <a:srgbClr val="1F2A3C"/>
                </a:solidFill>
                <a:latin typeface="Calibri" pitchFamily="34" charset="0"/>
                <a:ea typeface="Calibri" pitchFamily="34" charset="-122"/>
                <a:cs typeface="Calibri" pitchFamily="34" charset="-120"/>
              </a:rPr>
              <a:t>Cleaning and preprocessing</a:t>
            </a:r>
            <a:endParaRPr lang="en-US" sz="1300" dirty="0"/>
          </a:p>
        </p:txBody>
      </p:sp>
      <p:sp>
        <p:nvSpPr>
          <p:cNvPr id="7" name="Scaling"/>
          <p:cNvSpPr/>
          <p:nvPr/>
        </p:nvSpPr>
        <p:spPr>
          <a:xfrm>
            <a:off x="3840480" y="2011680"/>
            <a:ext cx="1188720" cy="731520"/>
          </a:xfrm>
          <a:prstGeom prst="rect">
            <a:avLst/>
          </a:prstGeom>
          <a:solidFill>
            <a:srgbClr val="E3F1F2"/>
          </a:solidFill>
          <a:ln w="12700">
            <a:solidFill>
              <a:srgbClr val="0F7C8A"/>
            </a:solidFill>
            <a:prstDash val="solid"/>
          </a:ln>
        </p:spPr>
        <p:txBody>
          <a:bodyPr/>
          <a:lstStyle/>
          <a:p>
            <a:endParaRPr lang="en-IN"/>
          </a:p>
        </p:txBody>
      </p:sp>
      <p:sp>
        <p:nvSpPr>
          <p:cNvPr id="8" name="Text 6"/>
          <p:cNvSpPr txBox="1"/>
          <p:nvPr/>
        </p:nvSpPr>
        <p:spPr>
          <a:xfrm>
            <a:off x="3913632" y="2011680"/>
            <a:ext cx="1042416" cy="731520"/>
          </a:xfrm>
          <a:prstGeom prst="rect">
            <a:avLst/>
          </a:prstGeom>
          <a:noFill/>
          <a:ln/>
        </p:spPr>
        <p:txBody>
          <a:bodyPr wrap="square" lIns="0" tIns="0" rIns="0" bIns="0" rtlCol="0" anchor="ctr"/>
          <a:lstStyle/>
          <a:p>
            <a:pPr marL="0" indent="0" algn="ctr">
              <a:buNone/>
            </a:pPr>
            <a:r>
              <a:rPr lang="en-US" sz="1300" dirty="0">
                <a:solidFill>
                  <a:srgbClr val="1F2A3C"/>
                </a:solidFill>
                <a:latin typeface="Calibri" pitchFamily="34" charset="0"/>
                <a:ea typeface="Calibri" pitchFamily="34" charset="-122"/>
                <a:cs typeface="Calibri" pitchFamily="34" charset="-120"/>
              </a:rPr>
              <a:t>Feature scaling</a:t>
            </a:r>
            <a:endParaRPr lang="en-US" sz="1300" dirty="0"/>
          </a:p>
        </p:txBody>
      </p:sp>
      <p:sp>
        <p:nvSpPr>
          <p:cNvPr id="9" name="Shape 7"/>
          <p:cNvSpPr/>
          <p:nvPr/>
        </p:nvSpPr>
        <p:spPr>
          <a:xfrm>
            <a:off x="1737360" y="2377440"/>
            <a:ext cx="274320" cy="0"/>
          </a:xfrm>
          <a:prstGeom prst="line">
            <a:avLst/>
          </a:prstGeom>
          <a:noFill/>
          <a:ln w="19050">
            <a:solidFill>
              <a:srgbClr val="5F6B7A"/>
            </a:solidFill>
            <a:prstDash val="solid"/>
            <a:tailEnd type="triangle"/>
          </a:ln>
        </p:spPr>
        <p:txBody>
          <a:bodyPr/>
          <a:lstStyle/>
          <a:p>
            <a:endParaRPr lang="en-IN"/>
          </a:p>
        </p:txBody>
      </p:sp>
      <p:sp>
        <p:nvSpPr>
          <p:cNvPr id="10" name="Shape 8"/>
          <p:cNvSpPr/>
          <p:nvPr/>
        </p:nvSpPr>
        <p:spPr>
          <a:xfrm>
            <a:off x="3566160" y="2377440"/>
            <a:ext cx="274320" cy="0"/>
          </a:xfrm>
          <a:prstGeom prst="line">
            <a:avLst/>
          </a:prstGeom>
          <a:noFill/>
          <a:ln w="19050">
            <a:solidFill>
              <a:srgbClr val="5F6B7A"/>
            </a:solidFill>
            <a:prstDash val="solid"/>
            <a:tailEnd type="triangle"/>
          </a:ln>
        </p:spPr>
        <p:txBody>
          <a:bodyPr/>
          <a:lstStyle/>
          <a:p>
            <a:endParaRPr lang="en-IN"/>
          </a:p>
        </p:txBody>
      </p:sp>
      <p:sp>
        <p:nvSpPr>
          <p:cNvPr id="11" name="Text 9"/>
          <p:cNvSpPr txBox="1"/>
          <p:nvPr/>
        </p:nvSpPr>
        <p:spPr>
          <a:xfrm>
            <a:off x="5440680" y="1051560"/>
            <a:ext cx="3291840" cy="228600"/>
          </a:xfrm>
          <a:prstGeom prst="rect">
            <a:avLst/>
          </a:prstGeom>
          <a:noFill/>
          <a:ln/>
        </p:spPr>
        <p:txBody>
          <a:bodyPr wrap="square" lIns="0" tIns="0" rIns="0" bIns="0" rtlCol="0" anchor="t"/>
          <a:lstStyle/>
          <a:p>
            <a:pPr marL="0" indent="0">
              <a:buNone/>
            </a:pPr>
            <a:r>
              <a:rPr lang="en-US" sz="1100" b="1" dirty="0">
                <a:solidFill>
                  <a:srgbClr val="0F7C8A"/>
                </a:solidFill>
                <a:latin typeface="Calibri" pitchFamily="34" charset="0"/>
                <a:ea typeface="Calibri" pitchFamily="34" charset="-122"/>
                <a:cs typeface="Calibri" pitchFamily="34" charset="-120"/>
              </a:rPr>
              <a:t>BRANCH A  ·  PLAYLIST CLASSIFICATION</a:t>
            </a:r>
            <a:endParaRPr lang="en-US" sz="1100" dirty="0"/>
          </a:p>
        </p:txBody>
      </p:sp>
      <p:sp>
        <p:nvSpPr>
          <p:cNvPr id="12" name="Classifier"/>
          <p:cNvSpPr/>
          <p:nvPr/>
        </p:nvSpPr>
        <p:spPr>
          <a:xfrm>
            <a:off x="5440680" y="1325880"/>
            <a:ext cx="1463040" cy="731520"/>
          </a:xfrm>
          <a:prstGeom prst="rect">
            <a:avLst/>
          </a:prstGeom>
          <a:solidFill>
            <a:srgbClr val="EEF2F7"/>
          </a:solidFill>
          <a:ln w="12700">
            <a:solidFill>
              <a:srgbClr val="C9D3E0"/>
            </a:solidFill>
            <a:prstDash val="solid"/>
          </a:ln>
        </p:spPr>
        <p:txBody>
          <a:bodyPr/>
          <a:lstStyle/>
          <a:p>
            <a:endParaRPr lang="en-IN"/>
          </a:p>
        </p:txBody>
      </p:sp>
      <p:sp>
        <p:nvSpPr>
          <p:cNvPr id="13" name="Text 11"/>
          <p:cNvSpPr txBox="1"/>
          <p:nvPr/>
        </p:nvSpPr>
        <p:spPr>
          <a:xfrm>
            <a:off x="5513832" y="1325880"/>
            <a:ext cx="1316736" cy="731520"/>
          </a:xfrm>
          <a:prstGeom prst="rect">
            <a:avLst/>
          </a:prstGeom>
          <a:noFill/>
          <a:ln/>
        </p:spPr>
        <p:txBody>
          <a:bodyPr wrap="square" lIns="0" tIns="0" rIns="0" bIns="0" rtlCol="0" anchor="ctr"/>
          <a:lstStyle/>
          <a:p>
            <a:pPr marL="0" indent="0" algn="ctr">
              <a:buNone/>
            </a:pPr>
            <a:r>
              <a:rPr lang="en-US" sz="1300" dirty="0">
                <a:solidFill>
                  <a:srgbClr val="1F2A3C"/>
                </a:solidFill>
                <a:latin typeface="Calibri" pitchFamily="34" charset="0"/>
                <a:ea typeface="Calibri" pitchFamily="34" charset="-122"/>
                <a:cs typeface="Calibri" pitchFamily="34" charset="-120"/>
              </a:rPr>
              <a:t>Classification model</a:t>
            </a:r>
            <a:endParaRPr lang="en-US" sz="1300" dirty="0"/>
          </a:p>
        </p:txBody>
      </p:sp>
      <p:sp>
        <p:nvSpPr>
          <p:cNvPr id="14" name="Prediction"/>
          <p:cNvSpPr/>
          <p:nvPr/>
        </p:nvSpPr>
        <p:spPr>
          <a:xfrm>
            <a:off x="7223760" y="1325880"/>
            <a:ext cx="1463040" cy="731520"/>
          </a:xfrm>
          <a:prstGeom prst="rect">
            <a:avLst/>
          </a:prstGeom>
          <a:solidFill>
            <a:srgbClr val="EEF2F7"/>
          </a:solidFill>
          <a:ln w="12700">
            <a:solidFill>
              <a:srgbClr val="C9D3E0"/>
            </a:solidFill>
            <a:prstDash val="solid"/>
          </a:ln>
        </p:spPr>
        <p:txBody>
          <a:bodyPr/>
          <a:lstStyle/>
          <a:p>
            <a:endParaRPr lang="en-IN"/>
          </a:p>
        </p:txBody>
      </p:sp>
      <p:sp>
        <p:nvSpPr>
          <p:cNvPr id="15" name="Text 13"/>
          <p:cNvSpPr txBox="1"/>
          <p:nvPr/>
        </p:nvSpPr>
        <p:spPr>
          <a:xfrm>
            <a:off x="7296912" y="1325880"/>
            <a:ext cx="1316736" cy="73152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Predicted playlist + confidence</a:t>
            </a:r>
            <a:endParaRPr lang="en-US" sz="1200" dirty="0"/>
          </a:p>
        </p:txBody>
      </p:sp>
      <p:sp>
        <p:nvSpPr>
          <p:cNvPr id="16" name="Shape 14"/>
          <p:cNvSpPr/>
          <p:nvPr/>
        </p:nvSpPr>
        <p:spPr>
          <a:xfrm>
            <a:off x="6903720" y="1691640"/>
            <a:ext cx="320040" cy="0"/>
          </a:xfrm>
          <a:prstGeom prst="line">
            <a:avLst/>
          </a:prstGeom>
          <a:noFill/>
          <a:ln w="19050">
            <a:solidFill>
              <a:srgbClr val="5F6B7A"/>
            </a:solidFill>
            <a:prstDash val="solid"/>
            <a:tailEnd type="triangle"/>
          </a:ln>
        </p:spPr>
        <p:txBody>
          <a:bodyPr/>
          <a:lstStyle/>
          <a:p>
            <a:endParaRPr lang="en-IN"/>
          </a:p>
        </p:txBody>
      </p:sp>
      <p:sp>
        <p:nvSpPr>
          <p:cNvPr id="17" name="Text 15"/>
          <p:cNvSpPr txBox="1"/>
          <p:nvPr/>
        </p:nvSpPr>
        <p:spPr>
          <a:xfrm>
            <a:off x="5440680" y="2514600"/>
            <a:ext cx="3291840" cy="228600"/>
          </a:xfrm>
          <a:prstGeom prst="rect">
            <a:avLst/>
          </a:prstGeom>
          <a:noFill/>
          <a:ln/>
        </p:spPr>
        <p:txBody>
          <a:bodyPr wrap="square" lIns="0" tIns="0" rIns="0" bIns="0" rtlCol="0" anchor="t"/>
          <a:lstStyle/>
          <a:p>
            <a:pPr marL="0" indent="0">
              <a:buNone/>
            </a:pPr>
            <a:r>
              <a:rPr lang="en-US" sz="1100" b="1" dirty="0">
                <a:solidFill>
                  <a:srgbClr val="0F7C8A"/>
                </a:solidFill>
                <a:latin typeface="Calibri" pitchFamily="34" charset="0"/>
                <a:ea typeface="Calibri" pitchFamily="34" charset="-122"/>
                <a:cs typeface="Calibri" pitchFamily="34" charset="-120"/>
              </a:rPr>
              <a:t>BRANCH B  ·  SONG RECOMMENDATION</a:t>
            </a:r>
            <a:endParaRPr lang="en-US" sz="1100" dirty="0"/>
          </a:p>
        </p:txBody>
      </p:sp>
      <p:sp>
        <p:nvSpPr>
          <p:cNvPr id="18" name="Cosine"/>
          <p:cNvSpPr/>
          <p:nvPr/>
        </p:nvSpPr>
        <p:spPr>
          <a:xfrm>
            <a:off x="5440680" y="2788920"/>
            <a:ext cx="1463040" cy="731520"/>
          </a:xfrm>
          <a:prstGeom prst="rect">
            <a:avLst/>
          </a:prstGeom>
          <a:solidFill>
            <a:srgbClr val="EEF2F7"/>
          </a:solidFill>
          <a:ln w="12700">
            <a:solidFill>
              <a:srgbClr val="C9D3E0"/>
            </a:solidFill>
            <a:prstDash val="solid"/>
          </a:ln>
        </p:spPr>
        <p:txBody>
          <a:bodyPr/>
          <a:lstStyle/>
          <a:p>
            <a:endParaRPr lang="en-IN"/>
          </a:p>
        </p:txBody>
      </p:sp>
      <p:sp>
        <p:nvSpPr>
          <p:cNvPr id="19" name="Text 17"/>
          <p:cNvSpPr txBox="1"/>
          <p:nvPr/>
        </p:nvSpPr>
        <p:spPr>
          <a:xfrm>
            <a:off x="5513832" y="2788920"/>
            <a:ext cx="1316736" cy="731520"/>
          </a:xfrm>
          <a:prstGeom prst="rect">
            <a:avLst/>
          </a:prstGeom>
          <a:noFill/>
          <a:ln/>
        </p:spPr>
        <p:txBody>
          <a:bodyPr wrap="square" lIns="0" tIns="0" rIns="0" bIns="0" rtlCol="0" anchor="ctr"/>
          <a:lstStyle/>
          <a:p>
            <a:pPr marL="0" indent="0" algn="ctr">
              <a:buNone/>
            </a:pPr>
            <a:r>
              <a:rPr lang="en-US" sz="1300" dirty="0">
                <a:solidFill>
                  <a:srgbClr val="1F2A3C"/>
                </a:solidFill>
                <a:latin typeface="Calibri" pitchFamily="34" charset="0"/>
                <a:ea typeface="Calibri" pitchFamily="34" charset="-122"/>
                <a:cs typeface="Calibri" pitchFamily="34" charset="-120"/>
              </a:rPr>
              <a:t>Cosine similarity</a:t>
            </a:r>
            <a:endParaRPr lang="en-US" sz="1300" dirty="0"/>
          </a:p>
        </p:txBody>
      </p:sp>
      <p:sp>
        <p:nvSpPr>
          <p:cNvPr id="20" name="Ranking"/>
          <p:cNvSpPr/>
          <p:nvPr/>
        </p:nvSpPr>
        <p:spPr>
          <a:xfrm>
            <a:off x="7223760" y="2788920"/>
            <a:ext cx="1463040" cy="731520"/>
          </a:xfrm>
          <a:prstGeom prst="rect">
            <a:avLst/>
          </a:prstGeom>
          <a:solidFill>
            <a:srgbClr val="EEF2F7"/>
          </a:solidFill>
          <a:ln w="12700">
            <a:solidFill>
              <a:srgbClr val="C9D3E0"/>
            </a:solidFill>
            <a:prstDash val="solid"/>
          </a:ln>
        </p:spPr>
        <p:txBody>
          <a:bodyPr/>
          <a:lstStyle/>
          <a:p>
            <a:endParaRPr lang="en-IN"/>
          </a:p>
        </p:txBody>
      </p:sp>
      <p:sp>
        <p:nvSpPr>
          <p:cNvPr id="21" name="Text 19"/>
          <p:cNvSpPr txBox="1"/>
          <p:nvPr/>
        </p:nvSpPr>
        <p:spPr>
          <a:xfrm>
            <a:off x="7296912" y="2788920"/>
            <a:ext cx="1316736" cy="73152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Ranked similar songs</a:t>
            </a:r>
            <a:endParaRPr lang="en-US" sz="1200" dirty="0"/>
          </a:p>
        </p:txBody>
      </p:sp>
      <p:sp>
        <p:nvSpPr>
          <p:cNvPr id="22" name="Shape 20"/>
          <p:cNvSpPr/>
          <p:nvPr/>
        </p:nvSpPr>
        <p:spPr>
          <a:xfrm>
            <a:off x="6903720" y="3154680"/>
            <a:ext cx="320040" cy="0"/>
          </a:xfrm>
          <a:prstGeom prst="line">
            <a:avLst/>
          </a:prstGeom>
          <a:noFill/>
          <a:ln w="19050">
            <a:solidFill>
              <a:srgbClr val="5F6B7A"/>
            </a:solidFill>
            <a:prstDash val="solid"/>
            <a:tailEnd type="triangle"/>
          </a:ln>
        </p:spPr>
        <p:txBody>
          <a:bodyPr/>
          <a:lstStyle/>
          <a:p>
            <a:endParaRPr lang="en-IN"/>
          </a:p>
        </p:txBody>
      </p:sp>
      <p:sp>
        <p:nvSpPr>
          <p:cNvPr id="23" name="Shape 21"/>
          <p:cNvSpPr/>
          <p:nvPr/>
        </p:nvSpPr>
        <p:spPr>
          <a:xfrm>
            <a:off x="5029200" y="2377440"/>
            <a:ext cx="201168" cy="0"/>
          </a:xfrm>
          <a:prstGeom prst="line">
            <a:avLst/>
          </a:prstGeom>
          <a:noFill/>
          <a:ln w="19050">
            <a:solidFill>
              <a:srgbClr val="5F6B7A"/>
            </a:solidFill>
            <a:prstDash val="solid"/>
          </a:ln>
        </p:spPr>
        <p:txBody>
          <a:bodyPr/>
          <a:lstStyle/>
          <a:p>
            <a:endParaRPr lang="en-IN"/>
          </a:p>
        </p:txBody>
      </p:sp>
      <p:sp>
        <p:nvSpPr>
          <p:cNvPr id="24" name="Shape 22"/>
          <p:cNvSpPr/>
          <p:nvPr/>
        </p:nvSpPr>
        <p:spPr>
          <a:xfrm>
            <a:off x="5230368" y="1691640"/>
            <a:ext cx="0" cy="1463040"/>
          </a:xfrm>
          <a:prstGeom prst="line">
            <a:avLst/>
          </a:prstGeom>
          <a:noFill/>
          <a:ln w="19050">
            <a:solidFill>
              <a:srgbClr val="5F6B7A"/>
            </a:solidFill>
            <a:prstDash val="solid"/>
          </a:ln>
        </p:spPr>
        <p:txBody>
          <a:bodyPr/>
          <a:lstStyle/>
          <a:p>
            <a:endParaRPr lang="en-IN"/>
          </a:p>
        </p:txBody>
      </p:sp>
      <p:sp>
        <p:nvSpPr>
          <p:cNvPr id="25" name="Shape 23"/>
          <p:cNvSpPr/>
          <p:nvPr/>
        </p:nvSpPr>
        <p:spPr>
          <a:xfrm>
            <a:off x="5230368" y="1691640"/>
            <a:ext cx="210312" cy="0"/>
          </a:xfrm>
          <a:prstGeom prst="line">
            <a:avLst/>
          </a:prstGeom>
          <a:noFill/>
          <a:ln w="19050">
            <a:solidFill>
              <a:srgbClr val="5F6B7A"/>
            </a:solidFill>
            <a:prstDash val="solid"/>
            <a:tailEnd type="triangle"/>
          </a:ln>
        </p:spPr>
        <p:txBody>
          <a:bodyPr/>
          <a:lstStyle/>
          <a:p>
            <a:endParaRPr lang="en-IN"/>
          </a:p>
        </p:txBody>
      </p:sp>
      <p:sp>
        <p:nvSpPr>
          <p:cNvPr id="26" name="Shape 24"/>
          <p:cNvSpPr/>
          <p:nvPr/>
        </p:nvSpPr>
        <p:spPr>
          <a:xfrm>
            <a:off x="5230368" y="3154680"/>
            <a:ext cx="210312" cy="0"/>
          </a:xfrm>
          <a:prstGeom prst="line">
            <a:avLst/>
          </a:prstGeom>
          <a:noFill/>
          <a:ln w="19050">
            <a:solidFill>
              <a:srgbClr val="5F6B7A"/>
            </a:solidFill>
            <a:prstDash val="solid"/>
            <a:tailEnd type="triangle"/>
          </a:ln>
        </p:spPr>
        <p:txBody>
          <a:bodyPr/>
          <a:lstStyle/>
          <a:p>
            <a:endParaRPr lang="en-IN"/>
          </a:p>
        </p:txBody>
      </p:sp>
      <p:sp>
        <p:nvSpPr>
          <p:cNvPr id="27" name="Backend"/>
          <p:cNvSpPr/>
          <p:nvPr/>
        </p:nvSpPr>
        <p:spPr>
          <a:xfrm>
            <a:off x="5806440" y="3840480"/>
            <a:ext cx="2880360" cy="685800"/>
          </a:xfrm>
          <a:prstGeom prst="rect">
            <a:avLst/>
          </a:prstGeom>
          <a:solidFill>
            <a:srgbClr val="14284B"/>
          </a:solidFill>
          <a:ln w="12700">
            <a:solidFill>
              <a:srgbClr val="14284B"/>
            </a:solidFill>
            <a:prstDash val="solid"/>
          </a:ln>
        </p:spPr>
        <p:txBody>
          <a:bodyPr/>
          <a:lstStyle/>
          <a:p>
            <a:endParaRPr lang="en-IN"/>
          </a:p>
        </p:txBody>
      </p:sp>
      <p:sp>
        <p:nvSpPr>
          <p:cNvPr id="28" name="Text 26"/>
          <p:cNvSpPr txBox="1"/>
          <p:nvPr/>
        </p:nvSpPr>
        <p:spPr>
          <a:xfrm>
            <a:off x="5879592" y="3840480"/>
            <a:ext cx="273405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FastAPI backend (REST API)</a:t>
            </a:r>
            <a:endParaRPr lang="en-US" sz="1300" dirty="0"/>
          </a:p>
        </p:txBody>
      </p:sp>
      <p:sp>
        <p:nvSpPr>
          <p:cNvPr id="29" name="Frontend"/>
          <p:cNvSpPr/>
          <p:nvPr/>
        </p:nvSpPr>
        <p:spPr>
          <a:xfrm>
            <a:off x="3063240" y="3840480"/>
            <a:ext cx="2331720" cy="685800"/>
          </a:xfrm>
          <a:prstGeom prst="rect">
            <a:avLst/>
          </a:prstGeom>
          <a:solidFill>
            <a:srgbClr val="14284B"/>
          </a:solidFill>
          <a:ln w="12700">
            <a:solidFill>
              <a:srgbClr val="14284B"/>
            </a:solidFill>
            <a:prstDash val="solid"/>
          </a:ln>
        </p:spPr>
        <p:txBody>
          <a:bodyPr/>
          <a:lstStyle/>
          <a:p>
            <a:endParaRPr lang="en-IN"/>
          </a:p>
        </p:txBody>
      </p:sp>
      <p:sp>
        <p:nvSpPr>
          <p:cNvPr id="30" name="Text 28"/>
          <p:cNvSpPr txBox="1"/>
          <p:nvPr/>
        </p:nvSpPr>
        <p:spPr>
          <a:xfrm>
            <a:off x="3136392" y="3840480"/>
            <a:ext cx="218541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React frontend dashboard</a:t>
            </a:r>
            <a:endParaRPr lang="en-US" sz="1300" dirty="0"/>
          </a:p>
        </p:txBody>
      </p:sp>
      <p:sp>
        <p:nvSpPr>
          <p:cNvPr id="31" name="Jamendo"/>
          <p:cNvSpPr/>
          <p:nvPr/>
        </p:nvSpPr>
        <p:spPr>
          <a:xfrm>
            <a:off x="365760" y="3840480"/>
            <a:ext cx="2194560" cy="685800"/>
          </a:xfrm>
          <a:prstGeom prst="rect">
            <a:avLst/>
          </a:prstGeom>
          <a:solidFill>
            <a:srgbClr val="EEF2F7"/>
          </a:solidFill>
          <a:ln w="12700">
            <a:solidFill>
              <a:srgbClr val="C9D3E0"/>
            </a:solidFill>
            <a:prstDash val="solid"/>
          </a:ln>
        </p:spPr>
        <p:txBody>
          <a:bodyPr/>
          <a:lstStyle/>
          <a:p>
            <a:endParaRPr lang="en-IN"/>
          </a:p>
        </p:txBody>
      </p:sp>
      <p:sp>
        <p:nvSpPr>
          <p:cNvPr id="32" name="Text 30"/>
          <p:cNvSpPr txBox="1"/>
          <p:nvPr/>
        </p:nvSpPr>
        <p:spPr>
          <a:xfrm>
            <a:off x="438912" y="3840480"/>
            <a:ext cx="2048256" cy="68580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Jamendo API (optional licensed previews)</a:t>
            </a:r>
            <a:endParaRPr lang="en-US" sz="1200" dirty="0"/>
          </a:p>
        </p:txBody>
      </p:sp>
      <p:sp>
        <p:nvSpPr>
          <p:cNvPr id="33" name="Shape 31"/>
          <p:cNvSpPr/>
          <p:nvPr/>
        </p:nvSpPr>
        <p:spPr>
          <a:xfrm flipH="1">
            <a:off x="5394960" y="4183380"/>
            <a:ext cx="411480" cy="0"/>
          </a:xfrm>
          <a:prstGeom prst="line">
            <a:avLst/>
          </a:prstGeom>
          <a:noFill/>
          <a:ln w="19050">
            <a:solidFill>
              <a:srgbClr val="5F6B7A"/>
            </a:solidFill>
            <a:prstDash val="solid"/>
            <a:tailEnd type="triangle"/>
          </a:ln>
        </p:spPr>
        <p:txBody>
          <a:bodyPr/>
          <a:lstStyle/>
          <a:p>
            <a:endParaRPr lang="en-IN"/>
          </a:p>
        </p:txBody>
      </p:sp>
      <p:sp>
        <p:nvSpPr>
          <p:cNvPr id="34" name="Shape 32"/>
          <p:cNvSpPr/>
          <p:nvPr/>
        </p:nvSpPr>
        <p:spPr>
          <a:xfrm>
            <a:off x="2560320" y="4183380"/>
            <a:ext cx="502920" cy="0"/>
          </a:xfrm>
          <a:prstGeom prst="line">
            <a:avLst/>
          </a:prstGeom>
          <a:noFill/>
          <a:ln w="19050">
            <a:solidFill>
              <a:srgbClr val="5F6B7A"/>
            </a:solidFill>
            <a:prstDash val="solid"/>
            <a:tailEnd type="triangle"/>
          </a:ln>
        </p:spPr>
        <p:txBody>
          <a:bodyPr/>
          <a:lstStyle/>
          <a:p>
            <a:endParaRPr lang="en-IN"/>
          </a:p>
        </p:txBody>
      </p:sp>
      <p:sp>
        <p:nvSpPr>
          <p:cNvPr id="35" name="Shape 33"/>
          <p:cNvSpPr/>
          <p:nvPr/>
        </p:nvSpPr>
        <p:spPr>
          <a:xfrm>
            <a:off x="8686800" y="1691640"/>
            <a:ext cx="201168" cy="0"/>
          </a:xfrm>
          <a:prstGeom prst="line">
            <a:avLst/>
          </a:prstGeom>
          <a:noFill/>
          <a:ln w="19050">
            <a:solidFill>
              <a:srgbClr val="5F6B7A"/>
            </a:solidFill>
            <a:prstDash val="solid"/>
          </a:ln>
        </p:spPr>
        <p:txBody>
          <a:bodyPr/>
          <a:lstStyle/>
          <a:p>
            <a:endParaRPr lang="en-IN"/>
          </a:p>
        </p:txBody>
      </p:sp>
      <p:sp>
        <p:nvSpPr>
          <p:cNvPr id="36" name="Shape 34"/>
          <p:cNvSpPr/>
          <p:nvPr/>
        </p:nvSpPr>
        <p:spPr>
          <a:xfrm>
            <a:off x="8686800" y="3154680"/>
            <a:ext cx="201168" cy="0"/>
          </a:xfrm>
          <a:prstGeom prst="line">
            <a:avLst/>
          </a:prstGeom>
          <a:noFill/>
          <a:ln w="19050">
            <a:solidFill>
              <a:srgbClr val="5F6B7A"/>
            </a:solidFill>
            <a:prstDash val="solid"/>
          </a:ln>
        </p:spPr>
        <p:txBody>
          <a:bodyPr/>
          <a:lstStyle/>
          <a:p>
            <a:endParaRPr lang="en-IN"/>
          </a:p>
        </p:txBody>
      </p:sp>
      <p:sp>
        <p:nvSpPr>
          <p:cNvPr id="37" name="Shape 35"/>
          <p:cNvSpPr/>
          <p:nvPr/>
        </p:nvSpPr>
        <p:spPr>
          <a:xfrm>
            <a:off x="8887968" y="1691640"/>
            <a:ext cx="0" cy="2491740"/>
          </a:xfrm>
          <a:prstGeom prst="line">
            <a:avLst/>
          </a:prstGeom>
          <a:noFill/>
          <a:ln w="19050">
            <a:solidFill>
              <a:srgbClr val="5F6B7A"/>
            </a:solidFill>
            <a:prstDash val="solid"/>
          </a:ln>
        </p:spPr>
        <p:txBody>
          <a:bodyPr/>
          <a:lstStyle/>
          <a:p>
            <a:endParaRPr lang="en-IN"/>
          </a:p>
        </p:txBody>
      </p:sp>
      <p:sp>
        <p:nvSpPr>
          <p:cNvPr id="38" name="Shape 36"/>
          <p:cNvSpPr/>
          <p:nvPr/>
        </p:nvSpPr>
        <p:spPr>
          <a:xfrm flipH="1">
            <a:off x="8686800" y="4183380"/>
            <a:ext cx="201168" cy="0"/>
          </a:xfrm>
          <a:prstGeom prst="line">
            <a:avLst/>
          </a:prstGeom>
          <a:noFill/>
          <a:ln w="19050">
            <a:solidFill>
              <a:srgbClr val="5F6B7A"/>
            </a:solidFill>
            <a:prstDash val="solid"/>
            <a:tailEnd type="triangle"/>
          </a:ln>
        </p:spPr>
        <p:txBody>
          <a:bodyPr/>
          <a:lstStyle/>
          <a:p>
            <a:endParaRPr lang="en-IN"/>
          </a:p>
        </p:txBody>
      </p:sp>
      <p:sp>
        <p:nvSpPr>
          <p:cNvPr id="39" name="Text 37"/>
          <p:cNvSpPr txBox="1"/>
          <p:nvPr/>
        </p:nvSpPr>
        <p:spPr>
          <a:xfrm>
            <a:off x="365760" y="3246120"/>
            <a:ext cx="4480560" cy="502920"/>
          </a:xfrm>
          <a:prstGeom prst="rect">
            <a:avLst/>
          </a:prstGeom>
          <a:noFill/>
          <a:ln/>
        </p:spPr>
        <p:txBody>
          <a:bodyPr wrap="square" lIns="0" tIns="0" rIns="0" bIns="0" rtlCol="0" anchor="t"/>
          <a:lstStyle/>
          <a:p>
            <a:pPr marL="0" indent="0">
              <a:buNone/>
            </a:pPr>
            <a:r>
              <a:rPr lang="en-US" sz="1300" dirty="0">
                <a:solidFill>
                  <a:srgbClr val="5F6B7A"/>
                </a:solidFill>
                <a:latin typeface="Calibri" pitchFamily="34" charset="0"/>
                <a:ea typeface="Calibri" pitchFamily="34" charset="-122"/>
                <a:cs typeface="Calibri" pitchFamily="34" charset="-120"/>
              </a:rPr>
              <a:t>Both branches are exposed through the FastAPI backend and shown in the React dashboard.</a:t>
            </a:r>
            <a:endParaRPr lang="en-US" sz="1300" dirty="0"/>
          </a:p>
        </p:txBody>
      </p:sp>
      <p:sp>
        <p:nvSpPr>
          <p:cNvPr id="40"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5</a:t>
            </a:fld>
            <a:endParaRPr lang="en-US"/>
          </a:p>
        </p:txBody>
      </p:sp>
      <p:sp>
        <p:nvSpPr>
          <p:cNvPr id="41" name="Rectangle 40">
            <a:extLst>
              <a:ext uri="{FF2B5EF4-FFF2-40B4-BE49-F238E27FC236}">
                <a16:creationId xmlns:a16="http://schemas.microsoft.com/office/drawing/2014/main" id="{40A2E151-44FB-4D23-BF43-183752B92592}"/>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Data Preprocessing</a:t>
            </a:r>
            <a:endParaRPr lang="en-US" sz="2800" dirty="0"/>
          </a:p>
        </p:txBody>
      </p:sp>
      <p:sp>
        <p:nvSpPr>
          <p:cNvPr id="3" name="Shape 1"/>
          <p:cNvSpPr/>
          <p:nvPr/>
        </p:nvSpPr>
        <p:spPr>
          <a:xfrm>
            <a:off x="457200" y="1188720"/>
            <a:ext cx="1261872" cy="1645920"/>
          </a:xfrm>
          <a:prstGeom prst="rect">
            <a:avLst/>
          </a:prstGeom>
          <a:solidFill>
            <a:srgbClr val="EEF2F7"/>
          </a:solidFill>
          <a:ln w="12700">
            <a:solidFill>
              <a:srgbClr val="C9D3E0"/>
            </a:solidFill>
            <a:prstDash val="solid"/>
          </a:ln>
        </p:spPr>
        <p:txBody>
          <a:bodyPr/>
          <a:lstStyle/>
          <a:p>
            <a:endParaRPr lang="en-IN"/>
          </a:p>
        </p:txBody>
      </p:sp>
      <p:sp>
        <p:nvSpPr>
          <p:cNvPr id="4" name="Text 2"/>
          <p:cNvSpPr txBox="1"/>
          <p:nvPr/>
        </p:nvSpPr>
        <p:spPr>
          <a:xfrm>
            <a:off x="548640"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1</a:t>
            </a:r>
            <a:endParaRPr lang="en-US" sz="2000" dirty="0"/>
          </a:p>
        </p:txBody>
      </p:sp>
      <p:sp>
        <p:nvSpPr>
          <p:cNvPr id="5" name="Text 3"/>
          <p:cNvSpPr txBox="1"/>
          <p:nvPr/>
        </p:nvSpPr>
        <p:spPr>
          <a:xfrm>
            <a:off x="548640"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Inspect and clean</a:t>
            </a:r>
            <a:endParaRPr lang="en-US" sz="1400" dirty="0"/>
          </a:p>
        </p:txBody>
      </p:sp>
      <p:sp>
        <p:nvSpPr>
          <p:cNvPr id="6" name="Text 4"/>
          <p:cNvSpPr txBox="1"/>
          <p:nvPr/>
        </p:nvSpPr>
        <p:spPr>
          <a:xfrm>
            <a:off x="548640"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Check for errors and duplicates</a:t>
            </a:r>
            <a:endParaRPr lang="en-US" sz="1200" dirty="0"/>
          </a:p>
        </p:txBody>
      </p:sp>
      <p:sp>
        <p:nvSpPr>
          <p:cNvPr id="7" name="Shape 5"/>
          <p:cNvSpPr/>
          <p:nvPr/>
        </p:nvSpPr>
        <p:spPr>
          <a:xfrm>
            <a:off x="1719072" y="2011680"/>
            <a:ext cx="131674" cy="0"/>
          </a:xfrm>
          <a:prstGeom prst="line">
            <a:avLst/>
          </a:prstGeom>
          <a:noFill/>
          <a:ln w="19050">
            <a:solidFill>
              <a:srgbClr val="5F6B7A"/>
            </a:solidFill>
            <a:prstDash val="solid"/>
            <a:tailEnd type="triangle"/>
          </a:ln>
        </p:spPr>
        <p:txBody>
          <a:bodyPr/>
          <a:lstStyle/>
          <a:p>
            <a:endParaRPr lang="en-IN"/>
          </a:p>
        </p:txBody>
      </p:sp>
      <p:sp>
        <p:nvSpPr>
          <p:cNvPr id="8" name="Shape 6"/>
          <p:cNvSpPr/>
          <p:nvPr/>
        </p:nvSpPr>
        <p:spPr>
          <a:xfrm>
            <a:off x="1850746" y="1188720"/>
            <a:ext cx="1261872" cy="1645920"/>
          </a:xfrm>
          <a:prstGeom prst="rect">
            <a:avLst/>
          </a:prstGeom>
          <a:solidFill>
            <a:srgbClr val="EEF2F7"/>
          </a:solidFill>
          <a:ln w="12700">
            <a:solidFill>
              <a:srgbClr val="C9D3E0"/>
            </a:solidFill>
            <a:prstDash val="solid"/>
          </a:ln>
        </p:spPr>
        <p:txBody>
          <a:bodyPr/>
          <a:lstStyle/>
          <a:p>
            <a:endParaRPr lang="en-IN"/>
          </a:p>
        </p:txBody>
      </p:sp>
      <p:sp>
        <p:nvSpPr>
          <p:cNvPr id="9" name="Text 7"/>
          <p:cNvSpPr txBox="1"/>
          <p:nvPr/>
        </p:nvSpPr>
        <p:spPr>
          <a:xfrm>
            <a:off x="1942186"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2</a:t>
            </a:r>
            <a:endParaRPr lang="en-US" sz="2000" dirty="0"/>
          </a:p>
        </p:txBody>
      </p:sp>
      <p:sp>
        <p:nvSpPr>
          <p:cNvPr id="10" name="Text 8"/>
          <p:cNvSpPr txBox="1"/>
          <p:nvPr/>
        </p:nvSpPr>
        <p:spPr>
          <a:xfrm>
            <a:off x="1942186"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Handle bad values</a:t>
            </a:r>
            <a:endParaRPr lang="en-US" sz="1400" dirty="0"/>
          </a:p>
        </p:txBody>
      </p:sp>
      <p:sp>
        <p:nvSpPr>
          <p:cNvPr id="11" name="Text 9"/>
          <p:cNvSpPr txBox="1"/>
          <p:nvPr/>
        </p:nvSpPr>
        <p:spPr>
          <a:xfrm>
            <a:off x="1942186"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Fix missing or invalid values</a:t>
            </a:r>
            <a:endParaRPr lang="en-US" sz="1200" dirty="0"/>
          </a:p>
        </p:txBody>
      </p:sp>
      <p:sp>
        <p:nvSpPr>
          <p:cNvPr id="12" name="Shape 10"/>
          <p:cNvSpPr/>
          <p:nvPr/>
        </p:nvSpPr>
        <p:spPr>
          <a:xfrm>
            <a:off x="3112618" y="2011680"/>
            <a:ext cx="131674" cy="0"/>
          </a:xfrm>
          <a:prstGeom prst="line">
            <a:avLst/>
          </a:prstGeom>
          <a:noFill/>
          <a:ln w="19050">
            <a:solidFill>
              <a:srgbClr val="5F6B7A"/>
            </a:solidFill>
            <a:prstDash val="solid"/>
            <a:tailEnd type="triangle"/>
          </a:ln>
        </p:spPr>
        <p:txBody>
          <a:bodyPr/>
          <a:lstStyle/>
          <a:p>
            <a:endParaRPr lang="en-IN"/>
          </a:p>
        </p:txBody>
      </p:sp>
      <p:sp>
        <p:nvSpPr>
          <p:cNvPr id="13" name="Shape 11"/>
          <p:cNvSpPr/>
          <p:nvPr/>
        </p:nvSpPr>
        <p:spPr>
          <a:xfrm>
            <a:off x="3244291" y="1188720"/>
            <a:ext cx="1261872" cy="1645920"/>
          </a:xfrm>
          <a:prstGeom prst="rect">
            <a:avLst/>
          </a:prstGeom>
          <a:solidFill>
            <a:srgbClr val="EEF2F7"/>
          </a:solidFill>
          <a:ln w="12700">
            <a:solidFill>
              <a:srgbClr val="C9D3E0"/>
            </a:solidFill>
            <a:prstDash val="solid"/>
          </a:ln>
        </p:spPr>
        <p:txBody>
          <a:bodyPr/>
          <a:lstStyle/>
          <a:p>
            <a:endParaRPr lang="en-IN"/>
          </a:p>
        </p:txBody>
      </p:sp>
      <p:sp>
        <p:nvSpPr>
          <p:cNvPr id="14" name="Text 12"/>
          <p:cNvSpPr txBox="1"/>
          <p:nvPr/>
        </p:nvSpPr>
        <p:spPr>
          <a:xfrm>
            <a:off x="3335731"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3</a:t>
            </a:r>
            <a:endParaRPr lang="en-US" sz="2000" dirty="0"/>
          </a:p>
        </p:txBody>
      </p:sp>
      <p:sp>
        <p:nvSpPr>
          <p:cNvPr id="15" name="Text 13"/>
          <p:cNvSpPr txBox="1"/>
          <p:nvPr/>
        </p:nvSpPr>
        <p:spPr>
          <a:xfrm>
            <a:off x="3335731"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Select features</a:t>
            </a:r>
            <a:endParaRPr lang="en-US" sz="1400" dirty="0"/>
          </a:p>
        </p:txBody>
      </p:sp>
      <p:sp>
        <p:nvSpPr>
          <p:cNvPr id="16" name="Text 14"/>
          <p:cNvSpPr txBox="1"/>
          <p:nvPr/>
        </p:nvSpPr>
        <p:spPr>
          <a:xfrm>
            <a:off x="3335731"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Keep numerical audio features</a:t>
            </a:r>
            <a:endParaRPr lang="en-US" sz="1200" dirty="0"/>
          </a:p>
        </p:txBody>
      </p:sp>
      <p:sp>
        <p:nvSpPr>
          <p:cNvPr id="17" name="Shape 15"/>
          <p:cNvSpPr/>
          <p:nvPr/>
        </p:nvSpPr>
        <p:spPr>
          <a:xfrm>
            <a:off x="4506163" y="2011680"/>
            <a:ext cx="131674" cy="0"/>
          </a:xfrm>
          <a:prstGeom prst="line">
            <a:avLst/>
          </a:prstGeom>
          <a:noFill/>
          <a:ln w="19050">
            <a:solidFill>
              <a:srgbClr val="5F6B7A"/>
            </a:solidFill>
            <a:prstDash val="solid"/>
            <a:tailEnd type="triangle"/>
          </a:ln>
        </p:spPr>
        <p:txBody>
          <a:bodyPr/>
          <a:lstStyle/>
          <a:p>
            <a:endParaRPr lang="en-IN"/>
          </a:p>
        </p:txBody>
      </p:sp>
      <p:sp>
        <p:nvSpPr>
          <p:cNvPr id="18" name="Shape 16"/>
          <p:cNvSpPr/>
          <p:nvPr/>
        </p:nvSpPr>
        <p:spPr>
          <a:xfrm>
            <a:off x="4637837" y="1188720"/>
            <a:ext cx="1261872" cy="1645920"/>
          </a:xfrm>
          <a:prstGeom prst="rect">
            <a:avLst/>
          </a:prstGeom>
          <a:solidFill>
            <a:srgbClr val="EEF2F7"/>
          </a:solidFill>
          <a:ln w="12700">
            <a:solidFill>
              <a:srgbClr val="C9D3E0"/>
            </a:solidFill>
            <a:prstDash val="solid"/>
          </a:ln>
        </p:spPr>
        <p:txBody>
          <a:bodyPr/>
          <a:lstStyle/>
          <a:p>
            <a:endParaRPr lang="en-IN"/>
          </a:p>
        </p:txBody>
      </p:sp>
      <p:sp>
        <p:nvSpPr>
          <p:cNvPr id="19" name="Text 17"/>
          <p:cNvSpPr txBox="1"/>
          <p:nvPr/>
        </p:nvSpPr>
        <p:spPr>
          <a:xfrm>
            <a:off x="4729277"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4729277"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Encode labels</a:t>
            </a:r>
            <a:endParaRPr lang="en-US" sz="1400" dirty="0"/>
          </a:p>
        </p:txBody>
      </p:sp>
      <p:sp>
        <p:nvSpPr>
          <p:cNvPr id="21" name="Text 19"/>
          <p:cNvSpPr txBox="1"/>
          <p:nvPr/>
        </p:nvSpPr>
        <p:spPr>
          <a:xfrm>
            <a:off x="4729277"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Playlist names → class labels</a:t>
            </a:r>
            <a:endParaRPr lang="en-US" sz="1200" dirty="0"/>
          </a:p>
        </p:txBody>
      </p:sp>
      <p:sp>
        <p:nvSpPr>
          <p:cNvPr id="22" name="Shape 20"/>
          <p:cNvSpPr/>
          <p:nvPr/>
        </p:nvSpPr>
        <p:spPr>
          <a:xfrm>
            <a:off x="5899709" y="2011680"/>
            <a:ext cx="131674" cy="0"/>
          </a:xfrm>
          <a:prstGeom prst="line">
            <a:avLst/>
          </a:prstGeom>
          <a:noFill/>
          <a:ln w="19050">
            <a:solidFill>
              <a:srgbClr val="5F6B7A"/>
            </a:solidFill>
            <a:prstDash val="solid"/>
            <a:tailEnd type="triangle"/>
          </a:ln>
        </p:spPr>
        <p:txBody>
          <a:bodyPr/>
          <a:lstStyle/>
          <a:p>
            <a:endParaRPr lang="en-IN"/>
          </a:p>
        </p:txBody>
      </p:sp>
      <p:sp>
        <p:nvSpPr>
          <p:cNvPr id="23" name="Shape 21"/>
          <p:cNvSpPr/>
          <p:nvPr/>
        </p:nvSpPr>
        <p:spPr>
          <a:xfrm>
            <a:off x="6031382" y="1188720"/>
            <a:ext cx="1261872" cy="1645920"/>
          </a:xfrm>
          <a:prstGeom prst="rect">
            <a:avLst/>
          </a:prstGeom>
          <a:solidFill>
            <a:srgbClr val="E3F1F2"/>
          </a:solidFill>
          <a:ln w="12700">
            <a:solidFill>
              <a:srgbClr val="0F7C8A"/>
            </a:solidFill>
            <a:prstDash val="solid"/>
          </a:ln>
        </p:spPr>
        <p:txBody>
          <a:bodyPr/>
          <a:lstStyle/>
          <a:p>
            <a:endParaRPr lang="en-IN"/>
          </a:p>
        </p:txBody>
      </p:sp>
      <p:sp>
        <p:nvSpPr>
          <p:cNvPr id="24" name="Text 22"/>
          <p:cNvSpPr txBox="1"/>
          <p:nvPr/>
        </p:nvSpPr>
        <p:spPr>
          <a:xfrm>
            <a:off x="6122822"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5</a:t>
            </a:r>
            <a:endParaRPr lang="en-US" sz="2000" dirty="0"/>
          </a:p>
        </p:txBody>
      </p:sp>
      <p:sp>
        <p:nvSpPr>
          <p:cNvPr id="25" name="Text 23"/>
          <p:cNvSpPr txBox="1"/>
          <p:nvPr/>
        </p:nvSpPr>
        <p:spPr>
          <a:xfrm>
            <a:off x="6122822"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Standardize</a:t>
            </a:r>
            <a:endParaRPr lang="en-US" sz="1400" dirty="0"/>
          </a:p>
        </p:txBody>
      </p:sp>
      <p:sp>
        <p:nvSpPr>
          <p:cNvPr id="26" name="Text 24"/>
          <p:cNvSpPr txBox="1"/>
          <p:nvPr/>
        </p:nvSpPr>
        <p:spPr>
          <a:xfrm>
            <a:off x="6122822"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StandardScaler puts features on one scale</a:t>
            </a:r>
            <a:endParaRPr lang="en-US" sz="1200" dirty="0"/>
          </a:p>
        </p:txBody>
      </p:sp>
      <p:sp>
        <p:nvSpPr>
          <p:cNvPr id="27" name="Shape 25"/>
          <p:cNvSpPr/>
          <p:nvPr/>
        </p:nvSpPr>
        <p:spPr>
          <a:xfrm>
            <a:off x="7293254" y="2011680"/>
            <a:ext cx="131674" cy="0"/>
          </a:xfrm>
          <a:prstGeom prst="line">
            <a:avLst/>
          </a:prstGeom>
          <a:noFill/>
          <a:ln w="19050">
            <a:solidFill>
              <a:srgbClr val="5F6B7A"/>
            </a:solidFill>
            <a:prstDash val="solid"/>
            <a:tailEnd type="triangle"/>
          </a:ln>
        </p:spPr>
        <p:txBody>
          <a:bodyPr/>
          <a:lstStyle/>
          <a:p>
            <a:endParaRPr lang="en-IN"/>
          </a:p>
        </p:txBody>
      </p:sp>
      <p:sp>
        <p:nvSpPr>
          <p:cNvPr id="28" name="Shape 26"/>
          <p:cNvSpPr/>
          <p:nvPr/>
        </p:nvSpPr>
        <p:spPr>
          <a:xfrm>
            <a:off x="7424928" y="1188720"/>
            <a:ext cx="1261872" cy="1645920"/>
          </a:xfrm>
          <a:prstGeom prst="rect">
            <a:avLst/>
          </a:prstGeom>
          <a:solidFill>
            <a:srgbClr val="EEF2F7"/>
          </a:solidFill>
          <a:ln w="12700">
            <a:solidFill>
              <a:srgbClr val="C9D3E0"/>
            </a:solidFill>
            <a:prstDash val="solid"/>
          </a:ln>
        </p:spPr>
        <p:txBody>
          <a:bodyPr/>
          <a:lstStyle/>
          <a:p>
            <a:endParaRPr lang="en-IN"/>
          </a:p>
        </p:txBody>
      </p:sp>
      <p:sp>
        <p:nvSpPr>
          <p:cNvPr id="29" name="Text 27"/>
          <p:cNvSpPr txBox="1"/>
          <p:nvPr/>
        </p:nvSpPr>
        <p:spPr>
          <a:xfrm>
            <a:off x="7516368" y="1261872"/>
            <a:ext cx="457200" cy="320040"/>
          </a:xfrm>
          <a:prstGeom prst="rect">
            <a:avLst/>
          </a:prstGeom>
          <a:noFill/>
          <a:ln/>
        </p:spPr>
        <p:txBody>
          <a:bodyPr wrap="square" lIns="0" tIns="0" rIns="0" bIns="0" rtlCol="0" anchor="t"/>
          <a:lstStyle/>
          <a:p>
            <a:pPr marL="0" indent="0">
              <a:buNone/>
            </a:pPr>
            <a:r>
              <a:rPr lang="en-US" sz="2000" b="1" dirty="0">
                <a:solidFill>
                  <a:srgbClr val="0F7C8A"/>
                </a:solidFill>
                <a:latin typeface="Calibri" pitchFamily="34" charset="0"/>
                <a:ea typeface="Calibri" pitchFamily="34" charset="-122"/>
                <a:cs typeface="Calibri" pitchFamily="34" charset="-120"/>
              </a:rPr>
              <a:t>6</a:t>
            </a:r>
            <a:endParaRPr lang="en-US" sz="2000" dirty="0"/>
          </a:p>
        </p:txBody>
      </p:sp>
      <p:sp>
        <p:nvSpPr>
          <p:cNvPr id="30" name="Text 28"/>
          <p:cNvSpPr txBox="1"/>
          <p:nvPr/>
        </p:nvSpPr>
        <p:spPr>
          <a:xfrm>
            <a:off x="7516368" y="1600200"/>
            <a:ext cx="1124712" cy="5029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Train/test split</a:t>
            </a:r>
            <a:endParaRPr lang="en-US" sz="1400" dirty="0"/>
          </a:p>
        </p:txBody>
      </p:sp>
      <p:sp>
        <p:nvSpPr>
          <p:cNvPr id="31" name="Text 29"/>
          <p:cNvSpPr txBox="1"/>
          <p:nvPr/>
        </p:nvSpPr>
        <p:spPr>
          <a:xfrm>
            <a:off x="7516368" y="2103120"/>
            <a:ext cx="1124712" cy="685800"/>
          </a:xfrm>
          <a:prstGeom prst="rect">
            <a:avLst/>
          </a:prstGeom>
          <a:noFill/>
          <a:ln/>
        </p:spPr>
        <p:txBody>
          <a:bodyPr wrap="square" lIns="0" tIns="0" rIns="0" bIns="0" rtlCol="0" anchor="t"/>
          <a:lstStyle/>
          <a:p>
            <a:pPr marL="0" indent="0">
              <a:buNone/>
            </a:pPr>
            <a:r>
              <a:rPr lang="en-US" sz="1200" dirty="0">
                <a:solidFill>
                  <a:srgbClr val="1F2A3C"/>
                </a:solidFill>
                <a:latin typeface="Calibri" pitchFamily="34" charset="0"/>
                <a:ea typeface="Calibri" pitchFamily="34" charset="-122"/>
                <a:cs typeface="Calibri" pitchFamily="34" charset="-120"/>
              </a:rPr>
              <a:t>Hold out data for testing</a:t>
            </a:r>
            <a:endParaRPr lang="en-US" sz="1200" dirty="0"/>
          </a:p>
        </p:txBody>
      </p:sp>
      <p:sp>
        <p:nvSpPr>
          <p:cNvPr id="32" name="Shape 30"/>
          <p:cNvSpPr/>
          <p:nvPr/>
        </p:nvSpPr>
        <p:spPr>
          <a:xfrm>
            <a:off x="457200" y="3017520"/>
            <a:ext cx="8229600" cy="1600200"/>
          </a:xfrm>
          <a:prstGeom prst="rect">
            <a:avLst/>
          </a:prstGeom>
          <a:solidFill>
            <a:srgbClr val="FFFFFF"/>
          </a:solidFill>
          <a:ln w="12700">
            <a:solidFill>
              <a:srgbClr val="C9D3E0"/>
            </a:solidFill>
            <a:prstDash val="solid"/>
          </a:ln>
        </p:spPr>
        <p:txBody>
          <a:bodyPr/>
          <a:lstStyle/>
          <a:p>
            <a:endParaRPr lang="en-IN"/>
          </a:p>
        </p:txBody>
      </p:sp>
      <p:sp>
        <p:nvSpPr>
          <p:cNvPr id="33" name="Text 31"/>
          <p:cNvSpPr txBox="1"/>
          <p:nvPr/>
        </p:nvSpPr>
        <p:spPr>
          <a:xfrm>
            <a:off x="685800" y="3108960"/>
            <a:ext cx="3657600" cy="32004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Why is scaling necessary?</a:t>
            </a:r>
            <a:endParaRPr lang="en-US" sz="1800" dirty="0"/>
          </a:p>
        </p:txBody>
      </p:sp>
      <p:sp>
        <p:nvSpPr>
          <p:cNvPr id="34" name="Text 32"/>
          <p:cNvSpPr txBox="1"/>
          <p:nvPr/>
        </p:nvSpPr>
        <p:spPr>
          <a:xfrm>
            <a:off x="685800" y="3474720"/>
            <a:ext cx="4023360" cy="109728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Features sit on very different scales. If they are left as they are, large-range features such as tempo dominate distance calculations. KNN and cosine similarity are the most affected.</a:t>
            </a:r>
            <a:endParaRPr lang="en-US" sz="1400" dirty="0"/>
          </a:p>
        </p:txBody>
      </p:sp>
      <p:sp>
        <p:nvSpPr>
          <p:cNvPr id="35" name="Text 33"/>
          <p:cNvSpPr txBox="1"/>
          <p:nvPr/>
        </p:nvSpPr>
        <p:spPr>
          <a:xfrm>
            <a:off x="5120640" y="3154680"/>
            <a:ext cx="3383280" cy="457200"/>
          </a:xfrm>
          <a:prstGeom prst="rect">
            <a:avLst/>
          </a:prstGeom>
          <a:noFill/>
          <a:ln/>
        </p:spPr>
        <p:txBody>
          <a:bodyPr wrap="square" lIns="0" tIns="0" rIns="0" bIns="0" rtlCol="0" anchor="t"/>
          <a:lstStyle/>
          <a:p>
            <a:pPr marL="0" indent="0" algn="ctr">
              <a:buNone/>
            </a:pPr>
            <a:r>
              <a:rPr lang="en-US" sz="2400" b="1" dirty="0">
                <a:solidFill>
                  <a:srgbClr val="14284B"/>
                </a:solidFill>
                <a:latin typeface="Calibri" pitchFamily="34" charset="0"/>
                <a:ea typeface="Calibri" pitchFamily="34" charset="-122"/>
                <a:cs typeface="Calibri" pitchFamily="34" charset="-120"/>
              </a:rPr>
              <a:t>z = (x − μ) / σ</a:t>
            </a:r>
            <a:endParaRPr lang="en-US" sz="2400" dirty="0"/>
          </a:p>
        </p:txBody>
      </p:sp>
      <p:sp>
        <p:nvSpPr>
          <p:cNvPr id="36" name="Text 34"/>
          <p:cNvSpPr txBox="1"/>
          <p:nvPr/>
        </p:nvSpPr>
        <p:spPr>
          <a:xfrm>
            <a:off x="5120640" y="3657600"/>
            <a:ext cx="3383280" cy="274320"/>
          </a:xfrm>
          <a:prstGeom prst="rect">
            <a:avLst/>
          </a:prstGeom>
          <a:noFill/>
          <a:ln/>
        </p:spPr>
        <p:txBody>
          <a:bodyPr wrap="square" lIns="0" tIns="0" rIns="0" bIns="0" rtlCol="0" anchor="t"/>
          <a:lstStyle/>
          <a:p>
            <a:pPr marL="0" indent="0" algn="ctr">
              <a:buNone/>
            </a:pPr>
            <a:r>
              <a:rPr lang="en-US" sz="1100" dirty="0">
                <a:solidFill>
                  <a:srgbClr val="5F6B7A"/>
                </a:solidFill>
                <a:latin typeface="Calibri" pitchFamily="34" charset="0"/>
                <a:ea typeface="Calibri" pitchFamily="34" charset="-122"/>
                <a:cs typeface="Calibri" pitchFamily="34" charset="-120"/>
              </a:rPr>
              <a:t>x: raw value    μ: feature mean    σ: standard deviation</a:t>
            </a:r>
            <a:endParaRPr lang="en-US" sz="1100" dirty="0"/>
          </a:p>
        </p:txBody>
      </p:sp>
      <p:sp>
        <p:nvSpPr>
          <p:cNvPr id="37" name="Text 35"/>
          <p:cNvSpPr txBox="1"/>
          <p:nvPr/>
        </p:nvSpPr>
        <p:spPr>
          <a:xfrm>
            <a:off x="4937760" y="4023360"/>
            <a:ext cx="3657600" cy="502920"/>
          </a:xfrm>
          <a:prstGeom prst="rect">
            <a:avLst/>
          </a:prstGeom>
          <a:noFill/>
          <a:ln/>
        </p:spPr>
        <p:txBody>
          <a:bodyPr wrap="square" lIns="0" tIns="0" rIns="0" bIns="0" rtlCol="0" anchor="t"/>
          <a:lstStyle/>
          <a:p>
            <a:pPr marL="0" indent="0" algn="ctr">
              <a:buNone/>
            </a:pPr>
            <a:r>
              <a:rPr lang="en-US" sz="1200" dirty="0">
                <a:solidFill>
                  <a:srgbClr val="1F2A3C"/>
                </a:solidFill>
                <a:latin typeface="Calibri" pitchFamily="34" charset="0"/>
                <a:ea typeface="Calibri" pitchFamily="34" charset="-122"/>
                <a:cs typeface="Calibri" pitchFamily="34" charset="-120"/>
              </a:rPr>
              <a:t>Example song:  danceability 0.72  ·  loudness −5.2 dB  ·  tempo 128 BPM</a:t>
            </a:r>
            <a:endParaRPr lang="en-US" sz="1200" dirty="0"/>
          </a:p>
        </p:txBody>
      </p:sp>
      <p:sp>
        <p:nvSpPr>
          <p:cNvPr id="3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6</a:t>
            </a:fld>
            <a:endParaRPr lang="en-US"/>
          </a:p>
        </p:txBody>
      </p:sp>
      <p:sp>
        <p:nvSpPr>
          <p:cNvPr id="39" name="Rectangle 38">
            <a:extLst>
              <a:ext uri="{FF2B5EF4-FFF2-40B4-BE49-F238E27FC236}">
                <a16:creationId xmlns:a16="http://schemas.microsoft.com/office/drawing/2014/main" id="{B6EF2166-D222-9C14-490E-5C281399A4E6}"/>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Machine Learning Models</a:t>
            </a:r>
            <a:endParaRPr lang="en-US" sz="2800" dirty="0"/>
          </a:p>
        </p:txBody>
      </p:sp>
      <p:sp>
        <p:nvSpPr>
          <p:cNvPr id="3" name="Text 1"/>
          <p:cNvSpPr txBox="1"/>
          <p:nvPr/>
        </p:nvSpPr>
        <p:spPr>
          <a:xfrm>
            <a:off x="457200" y="1005840"/>
            <a:ext cx="8229600" cy="548640"/>
          </a:xfrm>
          <a:prstGeom prst="rect">
            <a:avLst/>
          </a:prstGeom>
          <a:noFill/>
          <a:ln/>
        </p:spPr>
        <p:txBody>
          <a:bodyPr wrap="square" lIns="0" tIns="0" rIns="0" bIns="0" rtlCol="0" anchor="t"/>
          <a:lstStyle/>
          <a:p>
            <a:pPr marL="0" indent="0">
              <a:buNone/>
            </a:pPr>
            <a:r>
              <a:rPr lang="en-US" sz="1400" dirty="0">
                <a:solidFill>
                  <a:srgbClr val="5F6B7A"/>
                </a:solidFill>
                <a:latin typeface="Calibri" pitchFamily="34" charset="0"/>
                <a:ea typeface="Calibri" pitchFamily="34" charset="-122"/>
                <a:cs typeface="Calibri" pitchFamily="34" charset="-120"/>
              </a:rPr>
              <a:t>No single classifier is best for every dataset. All five are trained on the same scaled features, and the final choice is based on measured test-set results.</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8229600" cy="2852928"/>
        </p:xfrm>
        <a:graphic>
          <a:graphicData uri="http://schemas.openxmlformats.org/drawingml/2006/table">
            <a:tbl>
              <a:tblPr/>
              <a:tblGrid>
                <a:gridCol w="228600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Model</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Core idea</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Strength</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4284B"/>
                          </a:solidFill>
                          <a:latin typeface="Calibri" pitchFamily="34" charset="0"/>
                          <a:ea typeface="Calibri" pitchFamily="34" charset="-122"/>
                          <a:cs typeface="Calibri" pitchFamily="34" charset="-120"/>
                        </a:rPr>
                        <a:t>Logistic Regression</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Linear classification baseline</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Simple, fast, interpretable</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4284B"/>
                          </a:solidFill>
                          <a:latin typeface="Calibri" pitchFamily="34" charset="0"/>
                          <a:ea typeface="Calibri" pitchFamily="34" charset="-122"/>
                          <a:cs typeface="Calibri" pitchFamily="34" charset="-120"/>
                        </a:rPr>
                        <a:t>K-Nearest Neighbors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Labels a song by its closest samples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No training step; intuitive</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4284B"/>
                          </a:solidFill>
                          <a:latin typeface="Calibri" pitchFamily="34" charset="0"/>
                          <a:ea typeface="Calibri" pitchFamily="34" charset="-122"/>
                          <a:cs typeface="Calibri" pitchFamily="34" charset="-120"/>
                        </a:rPr>
                        <a:t>Random Forest</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Ensemble of decision trees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Handles non-linear patterns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4284B"/>
                          </a:solidFill>
                          <a:latin typeface="Calibri" pitchFamily="34" charset="0"/>
                          <a:ea typeface="Calibri" pitchFamily="34" charset="-122"/>
                          <a:cs typeface="Calibri" pitchFamily="34" charset="-120"/>
                        </a:rPr>
                        <a:t>SVM (RBF kernel)</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Non-linear, margin-based classifier</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Strong with scaled features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4284B"/>
                          </a:solidFill>
                          <a:latin typeface="Calibri" pitchFamily="34" charset="0"/>
                          <a:ea typeface="Calibri" pitchFamily="34" charset="-122"/>
                          <a:cs typeface="Calibri" pitchFamily="34" charset="-120"/>
                        </a:rPr>
                        <a:t>Neural Network (MLP)</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Layers learn non-linear feature relations</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tc>
                  <a:txBody>
                    <a:bodyPr/>
                    <a:lstStyle/>
                    <a:p>
                      <a:pPr marL="0" indent="0">
                        <a:buNone/>
                      </a:pPr>
                      <a:r>
                        <a:rPr lang="en-US" sz="1400" dirty="0">
                          <a:solidFill>
                            <a:srgbClr val="1F2A3C"/>
                          </a:solidFill>
                          <a:latin typeface="Calibri" pitchFamily="34" charset="0"/>
                          <a:ea typeface="Calibri" pitchFamily="34" charset="-122"/>
                          <a:cs typeface="Calibri" pitchFamily="34" charset="-120"/>
                        </a:rPr>
                        <a:t>Flexible function approximator</a:t>
                      </a:r>
                      <a:endParaRPr lang="en-US" sz="14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EF2F7"/>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7</a:t>
            </a:fld>
            <a:endParaRPr lang="en-US"/>
          </a:p>
        </p:txBody>
      </p:sp>
      <p:sp>
        <p:nvSpPr>
          <p:cNvPr id="4" name="Rectangle 3">
            <a:extLst>
              <a:ext uri="{FF2B5EF4-FFF2-40B4-BE49-F238E27FC236}">
                <a16:creationId xmlns:a16="http://schemas.microsoft.com/office/drawing/2014/main" id="{6D20BF94-40EC-E9D5-1771-D259BF5DD89D}"/>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Evaluation and Results</a:t>
            </a:r>
            <a:endParaRPr lang="en-US" sz="2800" dirty="0"/>
          </a:p>
        </p:txBody>
      </p:sp>
      <p:sp>
        <p:nvSpPr>
          <p:cNvPr id="3" name="Text 1"/>
          <p:cNvSpPr txBox="1"/>
          <p:nvPr/>
        </p:nvSpPr>
        <p:spPr>
          <a:xfrm>
            <a:off x="457200" y="1097280"/>
            <a:ext cx="1371600" cy="27432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Accuracy</a:t>
            </a:r>
            <a:endParaRPr lang="en-US" sz="1800" dirty="0"/>
          </a:p>
        </p:txBody>
      </p:sp>
      <p:sp>
        <p:nvSpPr>
          <p:cNvPr id="4" name="Text 2"/>
          <p:cNvSpPr txBox="1"/>
          <p:nvPr/>
        </p:nvSpPr>
        <p:spPr>
          <a:xfrm>
            <a:off x="457200" y="1408176"/>
            <a:ext cx="2194560" cy="274320"/>
          </a:xfrm>
          <a:prstGeom prst="rect">
            <a:avLst/>
          </a:prstGeom>
          <a:noFill/>
          <a:ln/>
        </p:spPr>
        <p:txBody>
          <a:bodyPr wrap="square" lIns="0" tIns="0" rIns="0" bIns="0" rtlCol="0" anchor="t"/>
          <a:lstStyle/>
          <a:p>
            <a:pPr marL="0" indent="0">
              <a:buNone/>
            </a:pPr>
            <a:r>
              <a:rPr lang="en-US" sz="1400" b="1" dirty="0">
                <a:solidFill>
                  <a:srgbClr val="0F7C8A"/>
                </a:solidFill>
                <a:latin typeface="Calibri" pitchFamily="34" charset="0"/>
                <a:ea typeface="Calibri" pitchFamily="34" charset="-122"/>
                <a:cs typeface="Calibri" pitchFamily="34" charset="-120"/>
              </a:rPr>
              <a:t>(TP + TN) / Total</a:t>
            </a:r>
            <a:endParaRPr lang="en-US" sz="1400" dirty="0"/>
          </a:p>
        </p:txBody>
      </p:sp>
      <p:sp>
        <p:nvSpPr>
          <p:cNvPr id="5" name="Text 3"/>
          <p:cNvSpPr txBox="1"/>
          <p:nvPr/>
        </p:nvSpPr>
        <p:spPr>
          <a:xfrm>
            <a:off x="2468880" y="1115568"/>
            <a:ext cx="2011680" cy="731520"/>
          </a:xfrm>
          <a:prstGeom prst="rect">
            <a:avLst/>
          </a:prstGeom>
          <a:noFill/>
          <a:ln/>
        </p:spPr>
        <p:txBody>
          <a:bodyPr wrap="square" lIns="0" tIns="0" rIns="0" bIns="0" rtlCol="0" anchor="t"/>
          <a:lstStyle/>
          <a:p>
            <a:pPr marL="0" indent="0">
              <a:buNone/>
            </a:pPr>
            <a:r>
              <a:rPr lang="en-US" sz="1300" dirty="0">
                <a:solidFill>
                  <a:srgbClr val="1F2A3C"/>
                </a:solidFill>
                <a:latin typeface="Calibri" pitchFamily="34" charset="0"/>
                <a:ea typeface="Calibri" pitchFamily="34" charset="-122"/>
                <a:cs typeface="Calibri" pitchFamily="34" charset="-120"/>
              </a:rPr>
              <a:t>Share of all predictions that are correct</a:t>
            </a:r>
            <a:endParaRPr lang="en-US" sz="1300" dirty="0"/>
          </a:p>
        </p:txBody>
      </p:sp>
      <p:sp>
        <p:nvSpPr>
          <p:cNvPr id="6" name="Text 4"/>
          <p:cNvSpPr txBox="1"/>
          <p:nvPr/>
        </p:nvSpPr>
        <p:spPr>
          <a:xfrm>
            <a:off x="457200" y="1965960"/>
            <a:ext cx="1371600" cy="27432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Precision</a:t>
            </a:r>
            <a:endParaRPr lang="en-US" sz="1800" dirty="0"/>
          </a:p>
        </p:txBody>
      </p:sp>
      <p:sp>
        <p:nvSpPr>
          <p:cNvPr id="7" name="Text 5"/>
          <p:cNvSpPr txBox="1"/>
          <p:nvPr/>
        </p:nvSpPr>
        <p:spPr>
          <a:xfrm>
            <a:off x="457200" y="2276856"/>
            <a:ext cx="2194560" cy="274320"/>
          </a:xfrm>
          <a:prstGeom prst="rect">
            <a:avLst/>
          </a:prstGeom>
          <a:noFill/>
          <a:ln/>
        </p:spPr>
        <p:txBody>
          <a:bodyPr wrap="square" lIns="0" tIns="0" rIns="0" bIns="0" rtlCol="0" anchor="t"/>
          <a:lstStyle/>
          <a:p>
            <a:pPr marL="0" indent="0">
              <a:buNone/>
            </a:pPr>
            <a:r>
              <a:rPr lang="en-US" sz="1400" b="1" dirty="0">
                <a:solidFill>
                  <a:srgbClr val="0F7C8A"/>
                </a:solidFill>
                <a:latin typeface="Calibri" pitchFamily="34" charset="0"/>
                <a:ea typeface="Calibri" pitchFamily="34" charset="-122"/>
                <a:cs typeface="Calibri" pitchFamily="34" charset="-120"/>
              </a:rPr>
              <a:t>TP / (TP + FP)</a:t>
            </a:r>
            <a:endParaRPr lang="en-US" sz="1400" dirty="0"/>
          </a:p>
        </p:txBody>
      </p:sp>
      <p:sp>
        <p:nvSpPr>
          <p:cNvPr id="8" name="Text 6"/>
          <p:cNvSpPr txBox="1"/>
          <p:nvPr/>
        </p:nvSpPr>
        <p:spPr>
          <a:xfrm>
            <a:off x="2468880" y="1984248"/>
            <a:ext cx="2011680" cy="731520"/>
          </a:xfrm>
          <a:prstGeom prst="rect">
            <a:avLst/>
          </a:prstGeom>
          <a:noFill/>
          <a:ln/>
        </p:spPr>
        <p:txBody>
          <a:bodyPr wrap="square" lIns="0" tIns="0" rIns="0" bIns="0" rtlCol="0" anchor="t"/>
          <a:lstStyle/>
          <a:p>
            <a:pPr marL="0" indent="0">
              <a:buNone/>
            </a:pPr>
            <a:r>
              <a:rPr lang="en-US" sz="1300" dirty="0">
                <a:solidFill>
                  <a:srgbClr val="1F2A3C"/>
                </a:solidFill>
                <a:latin typeface="Calibri" pitchFamily="34" charset="0"/>
                <a:ea typeface="Calibri" pitchFamily="34" charset="-122"/>
                <a:cs typeface="Calibri" pitchFamily="34" charset="-120"/>
              </a:rPr>
              <a:t>Of the songs predicted for a playlist, how many are right</a:t>
            </a:r>
            <a:endParaRPr lang="en-US" sz="1300" dirty="0"/>
          </a:p>
        </p:txBody>
      </p:sp>
      <p:sp>
        <p:nvSpPr>
          <p:cNvPr id="9" name="Text 7"/>
          <p:cNvSpPr txBox="1"/>
          <p:nvPr/>
        </p:nvSpPr>
        <p:spPr>
          <a:xfrm>
            <a:off x="457200" y="2834640"/>
            <a:ext cx="1371600" cy="27432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Recall</a:t>
            </a:r>
            <a:endParaRPr lang="en-US" sz="1800" dirty="0"/>
          </a:p>
        </p:txBody>
      </p:sp>
      <p:sp>
        <p:nvSpPr>
          <p:cNvPr id="10" name="Text 8"/>
          <p:cNvSpPr txBox="1"/>
          <p:nvPr/>
        </p:nvSpPr>
        <p:spPr>
          <a:xfrm>
            <a:off x="457200" y="3145536"/>
            <a:ext cx="2194560" cy="274320"/>
          </a:xfrm>
          <a:prstGeom prst="rect">
            <a:avLst/>
          </a:prstGeom>
          <a:noFill/>
          <a:ln/>
        </p:spPr>
        <p:txBody>
          <a:bodyPr wrap="square" lIns="0" tIns="0" rIns="0" bIns="0" rtlCol="0" anchor="t"/>
          <a:lstStyle/>
          <a:p>
            <a:pPr marL="0" indent="0">
              <a:buNone/>
            </a:pPr>
            <a:r>
              <a:rPr lang="en-US" sz="1400" b="1" dirty="0">
                <a:solidFill>
                  <a:srgbClr val="0F7C8A"/>
                </a:solidFill>
                <a:latin typeface="Calibri" pitchFamily="34" charset="0"/>
                <a:ea typeface="Calibri" pitchFamily="34" charset="-122"/>
                <a:cs typeface="Calibri" pitchFamily="34" charset="-120"/>
              </a:rPr>
              <a:t>TP / (TP + FN)</a:t>
            </a:r>
            <a:endParaRPr lang="en-US" sz="1400" dirty="0"/>
          </a:p>
        </p:txBody>
      </p:sp>
      <p:sp>
        <p:nvSpPr>
          <p:cNvPr id="11" name="Text 9"/>
          <p:cNvSpPr txBox="1"/>
          <p:nvPr/>
        </p:nvSpPr>
        <p:spPr>
          <a:xfrm>
            <a:off x="2468880" y="2852928"/>
            <a:ext cx="2011680" cy="731520"/>
          </a:xfrm>
          <a:prstGeom prst="rect">
            <a:avLst/>
          </a:prstGeom>
          <a:noFill/>
          <a:ln/>
        </p:spPr>
        <p:txBody>
          <a:bodyPr wrap="square" lIns="0" tIns="0" rIns="0" bIns="0" rtlCol="0" anchor="t"/>
          <a:lstStyle/>
          <a:p>
            <a:pPr marL="0" indent="0">
              <a:buNone/>
            </a:pPr>
            <a:r>
              <a:rPr lang="en-US" sz="1300" dirty="0">
                <a:solidFill>
                  <a:srgbClr val="1F2A3C"/>
                </a:solidFill>
                <a:latin typeface="Calibri" pitchFamily="34" charset="0"/>
                <a:ea typeface="Calibri" pitchFamily="34" charset="-122"/>
                <a:cs typeface="Calibri" pitchFamily="34" charset="-120"/>
              </a:rPr>
              <a:t>Of the songs that belong to a playlist, how many are found</a:t>
            </a:r>
            <a:endParaRPr lang="en-US" sz="1300" dirty="0"/>
          </a:p>
        </p:txBody>
      </p:sp>
      <p:sp>
        <p:nvSpPr>
          <p:cNvPr id="12" name="Text 10"/>
          <p:cNvSpPr txBox="1"/>
          <p:nvPr/>
        </p:nvSpPr>
        <p:spPr>
          <a:xfrm>
            <a:off x="457200" y="3703320"/>
            <a:ext cx="1371600" cy="27432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F1-score</a:t>
            </a:r>
            <a:endParaRPr lang="en-US" sz="1800" dirty="0"/>
          </a:p>
        </p:txBody>
      </p:sp>
      <p:sp>
        <p:nvSpPr>
          <p:cNvPr id="13" name="Text 11"/>
          <p:cNvSpPr txBox="1"/>
          <p:nvPr/>
        </p:nvSpPr>
        <p:spPr>
          <a:xfrm>
            <a:off x="457200" y="4014216"/>
            <a:ext cx="2194560" cy="274320"/>
          </a:xfrm>
          <a:prstGeom prst="rect">
            <a:avLst/>
          </a:prstGeom>
          <a:noFill/>
          <a:ln/>
        </p:spPr>
        <p:txBody>
          <a:bodyPr wrap="square" lIns="0" tIns="0" rIns="0" bIns="0" rtlCol="0" anchor="t"/>
          <a:lstStyle/>
          <a:p>
            <a:pPr marL="0" indent="0">
              <a:buNone/>
            </a:pPr>
            <a:r>
              <a:rPr lang="en-US" sz="1400" b="1" dirty="0">
                <a:solidFill>
                  <a:srgbClr val="0F7C8A"/>
                </a:solidFill>
                <a:latin typeface="Calibri" pitchFamily="34" charset="0"/>
                <a:ea typeface="Calibri" pitchFamily="34" charset="-122"/>
                <a:cs typeface="Calibri" pitchFamily="34" charset="-120"/>
              </a:rPr>
              <a:t>2 · P · R / (P + R)</a:t>
            </a:r>
            <a:endParaRPr lang="en-US" sz="1400" dirty="0"/>
          </a:p>
        </p:txBody>
      </p:sp>
      <p:sp>
        <p:nvSpPr>
          <p:cNvPr id="14" name="Text 12"/>
          <p:cNvSpPr txBox="1"/>
          <p:nvPr/>
        </p:nvSpPr>
        <p:spPr>
          <a:xfrm>
            <a:off x="2468880" y="3721608"/>
            <a:ext cx="2011680" cy="731520"/>
          </a:xfrm>
          <a:prstGeom prst="rect">
            <a:avLst/>
          </a:prstGeom>
          <a:noFill/>
          <a:ln/>
        </p:spPr>
        <p:txBody>
          <a:bodyPr wrap="square" lIns="0" tIns="0" rIns="0" bIns="0" rtlCol="0" anchor="t"/>
          <a:lstStyle/>
          <a:p>
            <a:pPr marL="0" indent="0">
              <a:buNone/>
            </a:pPr>
            <a:r>
              <a:rPr lang="en-US" sz="1300" dirty="0">
                <a:solidFill>
                  <a:srgbClr val="1F2A3C"/>
                </a:solidFill>
                <a:latin typeface="Calibri" pitchFamily="34" charset="0"/>
                <a:ea typeface="Calibri" pitchFamily="34" charset="-122"/>
                <a:cs typeface="Calibri" pitchFamily="34" charset="-120"/>
              </a:rPr>
              <a:t>Balance between precision and recall</a:t>
            </a:r>
            <a:endParaRPr lang="en-US" sz="1300" dirty="0"/>
          </a:p>
        </p:txBody>
      </p:sp>
      <p:sp>
        <p:nvSpPr>
          <p:cNvPr id="15" name="Text 13"/>
          <p:cNvSpPr txBox="1"/>
          <p:nvPr/>
        </p:nvSpPr>
        <p:spPr>
          <a:xfrm>
            <a:off x="4846320" y="1097280"/>
            <a:ext cx="3840480" cy="32004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Test-set accuracy by model</a:t>
            </a:r>
            <a:endParaRPr lang="en-US" sz="1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846320" y="1508760"/>
          <a:ext cx="3840480" cy="2304288"/>
        </p:xfrm>
        <a:graphic>
          <a:graphicData uri="http://schemas.openxmlformats.org/drawingml/2006/table">
            <a:tbl>
              <a:tblPr/>
              <a:tblGrid>
                <a:gridCol w="24688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3840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14284B"/>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Logistic Regression</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marL="0" indent="0">
                        <a:buNone/>
                      </a:pPr>
                      <a:r>
                        <a:rPr lang="en-US" sz="1300" i="1" dirty="0">
                          <a:solidFill>
                            <a:srgbClr val="5F6B7A"/>
                          </a:solidFill>
                          <a:latin typeface="Calibri" pitchFamily="34" charset="0"/>
                          <a:ea typeface="Calibri" pitchFamily="34" charset="-122"/>
                          <a:cs typeface="Calibri" pitchFamily="34" charset="-120"/>
                        </a:rPr>
                        <a:t>to be added</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K-Nearest Neighbors</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marL="0" indent="0">
                        <a:buNone/>
                      </a:pPr>
                      <a:r>
                        <a:rPr lang="en-US" sz="1300" i="1" dirty="0">
                          <a:solidFill>
                            <a:srgbClr val="5F6B7A"/>
                          </a:solidFill>
                          <a:latin typeface="Calibri" pitchFamily="34" charset="0"/>
                          <a:ea typeface="Calibri" pitchFamily="34" charset="-122"/>
                          <a:cs typeface="Calibri" pitchFamily="34" charset="-120"/>
                        </a:rPr>
                        <a:t>to be added</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Random Forest</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marL="0" indent="0">
                        <a:buNone/>
                      </a:pPr>
                      <a:r>
                        <a:rPr lang="en-US" sz="1300" i="1" dirty="0">
                          <a:solidFill>
                            <a:srgbClr val="5F6B7A"/>
                          </a:solidFill>
                          <a:latin typeface="Calibri" pitchFamily="34" charset="0"/>
                          <a:ea typeface="Calibri" pitchFamily="34" charset="-122"/>
                          <a:cs typeface="Calibri" pitchFamily="34" charset="-120"/>
                        </a:rPr>
                        <a:t>to be added</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b="1" dirty="0">
                          <a:solidFill>
                            <a:srgbClr val="14284B"/>
                          </a:solidFill>
                          <a:latin typeface="Calibri" pitchFamily="34" charset="0"/>
                          <a:ea typeface="Calibri" pitchFamily="34" charset="-122"/>
                          <a:cs typeface="Calibri" pitchFamily="34" charset="-120"/>
                        </a:rPr>
                        <a:t>SVM (RBF kernel)</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3F1F2"/>
                    </a:solidFill>
                  </a:tcPr>
                </a:tc>
                <a:tc>
                  <a:txBody>
                    <a:bodyPr/>
                    <a:lstStyle/>
                    <a:p>
                      <a:pPr marL="0" indent="0">
                        <a:buNone/>
                      </a:pPr>
                      <a:r>
                        <a:rPr lang="en-US" sz="1300" b="1" dirty="0">
                          <a:solidFill>
                            <a:srgbClr val="14284B"/>
                          </a:solidFill>
                          <a:latin typeface="Calibri" pitchFamily="34" charset="0"/>
                          <a:ea typeface="Calibri" pitchFamily="34" charset="-122"/>
                          <a:cs typeface="Calibri" pitchFamily="34" charset="-120"/>
                        </a:rPr>
                        <a:t>87.4%*</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solidFill>
                      <a:srgbClr val="E3F1F2"/>
                    </a:solidFill>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F2A3C"/>
                          </a:solidFill>
                          <a:latin typeface="Calibri" pitchFamily="34" charset="0"/>
                          <a:ea typeface="Calibri" pitchFamily="34" charset="-122"/>
                          <a:cs typeface="Calibri" pitchFamily="34" charset="-120"/>
                        </a:rPr>
                        <a:t>Neural Network (MLP)</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tc>
                  <a:txBody>
                    <a:bodyPr/>
                    <a:lstStyle/>
                    <a:p>
                      <a:pPr marL="0" indent="0">
                        <a:buNone/>
                      </a:pPr>
                      <a:r>
                        <a:rPr lang="en-US" sz="1300" i="1" dirty="0">
                          <a:solidFill>
                            <a:srgbClr val="5F6B7A"/>
                          </a:solidFill>
                          <a:latin typeface="Calibri" pitchFamily="34" charset="0"/>
                          <a:ea typeface="Calibri" pitchFamily="34" charset="-122"/>
                          <a:cs typeface="Calibri" pitchFamily="34" charset="-120"/>
                        </a:rPr>
                        <a:t>to be added</a:t>
                      </a:r>
                      <a:endParaRPr lang="en-US" sz="1300" dirty="0">
                        <a:latin typeface="Calibri" charset="0"/>
                        <a:ea typeface="Calibri" charset="0"/>
                        <a:cs typeface="Calibri" charset="0"/>
                      </a:endParaRPr>
                    </a:p>
                  </a:txBody>
                  <a:tcPr marL="109728" marR="109728" marT="0" marB="0" anchor="ctr">
                    <a:lnL w="12700" cap="flat" cmpd="sng" algn="ctr">
                      <a:solidFill>
                        <a:srgbClr val="C9D3E0"/>
                      </a:solidFill>
                      <a:prstDash val="solid"/>
                      <a:round/>
                      <a:headEnd type="none" w="med" len="med"/>
                      <a:tailEnd type="none" w="med" len="med"/>
                    </a:lnL>
                    <a:lnR w="12700" cap="flat" cmpd="sng" algn="ctr">
                      <a:solidFill>
                        <a:srgbClr val="C9D3E0"/>
                      </a:solidFill>
                      <a:prstDash val="solid"/>
                      <a:round/>
                      <a:headEnd type="none" w="med" len="med"/>
                      <a:tailEnd type="none" w="med" len="med"/>
                    </a:lnR>
                    <a:lnT w="12700" cap="flat" cmpd="sng" algn="ctr">
                      <a:solidFill>
                        <a:srgbClr val="C9D3E0"/>
                      </a:solidFill>
                      <a:prstDash val="solid"/>
                      <a:round/>
                      <a:headEnd type="none" w="med" len="med"/>
                      <a:tailEnd type="none" w="med" len="med"/>
                    </a:lnT>
                    <a:lnB w="12700" cap="flat" cmpd="sng" algn="ctr">
                      <a:solidFill>
                        <a:srgbClr val="C9D3E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7" name="Text 14"/>
          <p:cNvSpPr txBox="1"/>
          <p:nvPr/>
        </p:nvSpPr>
        <p:spPr>
          <a:xfrm>
            <a:off x="4846320" y="3931920"/>
            <a:ext cx="3840480" cy="640080"/>
          </a:xfrm>
          <a:prstGeom prst="rect">
            <a:avLst/>
          </a:prstGeom>
          <a:noFill/>
          <a:ln/>
        </p:spPr>
        <p:txBody>
          <a:bodyPr wrap="square" lIns="0" tIns="0" rIns="0" bIns="0" rtlCol="0" anchor="t"/>
          <a:lstStyle/>
          <a:p>
            <a:pPr marL="0" indent="0">
              <a:buNone/>
            </a:pPr>
            <a:r>
              <a:rPr lang="en-US" sz="1100" dirty="0">
                <a:solidFill>
                  <a:srgbClr val="5F6B7A"/>
                </a:solidFill>
                <a:latin typeface="Calibri" pitchFamily="34" charset="0"/>
                <a:ea typeface="Calibri" pitchFamily="34" charset="-122"/>
                <a:cs typeface="Calibri" pitchFamily="34" charset="-120"/>
              </a:rPr>
              <a:t>*SVM (RBF) accuracy as shown in the application dashboard. Values for the other models will be filled in from the final evaluation output; none are estimated here.</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8</a:t>
            </a:fld>
            <a:endParaRPr lang="en-US"/>
          </a:p>
        </p:txBody>
      </p:sp>
      <p:sp>
        <p:nvSpPr>
          <p:cNvPr id="18" name="Rectangle 17">
            <a:extLst>
              <a:ext uri="{FF2B5EF4-FFF2-40B4-BE49-F238E27FC236}">
                <a16:creationId xmlns:a16="http://schemas.microsoft.com/office/drawing/2014/main" id="{9F7A73FF-9AA7-5945-ECFD-5BF2C0337392}"/>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Playlist Prediction</a:t>
            </a:r>
            <a:endParaRPr lang="en-US" sz="2800" dirty="0"/>
          </a:p>
        </p:txBody>
      </p:sp>
      <p:pic>
        <p:nvPicPr>
          <p:cNvPr id="3" name="Prediction screenshot (original app)" descr="Playlist Prediction page of the application"/>
          <p:cNvPicPr>
            <a:picLocks noChangeAspect="1"/>
          </p:cNvPicPr>
          <p:nvPr/>
        </p:nvPicPr>
        <p:blipFill>
          <a:blip r:embed="rId3"/>
          <a:stretch>
            <a:fillRect/>
          </a:stretch>
        </p:blipFill>
        <p:spPr>
          <a:xfrm>
            <a:off x="457200" y="1051560"/>
            <a:ext cx="5760720" cy="2538218"/>
          </a:xfrm>
          <a:prstGeom prst="rect">
            <a:avLst/>
          </a:prstGeom>
        </p:spPr>
      </p:pic>
      <p:sp>
        <p:nvSpPr>
          <p:cNvPr id="4" name="Shape 1"/>
          <p:cNvSpPr/>
          <p:nvPr/>
        </p:nvSpPr>
        <p:spPr>
          <a:xfrm>
            <a:off x="457200" y="1051560"/>
            <a:ext cx="5760720" cy="2538218"/>
          </a:xfrm>
          <a:prstGeom prst="rect">
            <a:avLst/>
          </a:prstGeom>
          <a:ln w="12700">
            <a:solidFill>
              <a:srgbClr val="C9D3E0"/>
            </a:solidFill>
            <a:prstDash val="solid"/>
          </a:ln>
        </p:spPr>
        <p:txBody>
          <a:bodyPr/>
          <a:lstStyle/>
          <a:p>
            <a:endParaRPr lang="en-IN"/>
          </a:p>
        </p:txBody>
      </p:sp>
      <p:sp>
        <p:nvSpPr>
          <p:cNvPr id="5" name="Text 2"/>
          <p:cNvSpPr txBox="1"/>
          <p:nvPr/>
        </p:nvSpPr>
        <p:spPr>
          <a:xfrm>
            <a:off x="457200" y="3657600"/>
            <a:ext cx="5760720" cy="228600"/>
          </a:xfrm>
          <a:prstGeom prst="rect">
            <a:avLst/>
          </a:prstGeom>
          <a:noFill/>
          <a:ln/>
        </p:spPr>
        <p:txBody>
          <a:bodyPr wrap="square" lIns="0" tIns="0" rIns="0" bIns="0" rtlCol="0" anchor="t"/>
          <a:lstStyle/>
          <a:p>
            <a:pPr marL="0" indent="0">
              <a:buNone/>
            </a:pPr>
            <a:r>
              <a:rPr lang="en-US" sz="1100" dirty="0">
                <a:solidFill>
                  <a:srgbClr val="5F6B7A"/>
                </a:solidFill>
                <a:latin typeface="Calibri" pitchFamily="34" charset="0"/>
                <a:ea typeface="Calibri" pitchFamily="34" charset="-122"/>
                <a:cs typeface="Calibri" pitchFamily="34" charset="-120"/>
              </a:rPr>
              <a:t>Playlist Prediction page of the application: feature sliders, predicted playlist and top-5 probabilities.</a:t>
            </a:r>
            <a:endParaRPr lang="en-US" sz="1100" dirty="0"/>
          </a:p>
        </p:txBody>
      </p:sp>
      <p:sp>
        <p:nvSpPr>
          <p:cNvPr id="6" name="Text 3"/>
          <p:cNvSpPr txBox="1"/>
          <p:nvPr/>
        </p:nvSpPr>
        <p:spPr>
          <a:xfrm>
            <a:off x="6492240" y="1051560"/>
            <a:ext cx="2194560" cy="27432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In this example</a:t>
            </a:r>
            <a:endParaRPr lang="en-US" sz="1800" dirty="0"/>
          </a:p>
        </p:txBody>
      </p:sp>
      <p:sp>
        <p:nvSpPr>
          <p:cNvPr id="7" name="Text 4"/>
          <p:cNvSpPr txBox="1"/>
          <p:nvPr/>
        </p:nvSpPr>
        <p:spPr>
          <a:xfrm>
            <a:off x="6492240" y="1417320"/>
            <a:ext cx="219456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A3C"/>
                </a:solidFill>
                <a:latin typeface="Calibri" pitchFamily="34" charset="0"/>
                <a:ea typeface="Calibri" pitchFamily="34" charset="-122"/>
                <a:cs typeface="Calibri" pitchFamily="34" charset="-120"/>
              </a:rPr>
              <a:t>Predicted playlist: Party</a:t>
            </a:r>
            <a:endParaRPr lang="en-US" sz="1400" dirty="0"/>
          </a:p>
          <a:p>
            <a:pPr marL="342900" indent="-342900">
              <a:spcAft>
                <a:spcPts val="600"/>
              </a:spcAft>
              <a:buSzPct val="100000"/>
              <a:buChar char="•"/>
            </a:pPr>
            <a:r>
              <a:rPr lang="en-US" sz="1400" dirty="0">
                <a:solidFill>
                  <a:srgbClr val="1F2A3C"/>
                </a:solidFill>
                <a:latin typeface="Calibri" pitchFamily="34" charset="0"/>
                <a:ea typeface="Calibri" pitchFamily="34" charset="-122"/>
                <a:cs typeface="Calibri" pitchFamily="34" charset="-120"/>
              </a:rPr>
              <a:t>Confidence: 87.6%</a:t>
            </a:r>
            <a:endParaRPr lang="en-US" sz="1400" dirty="0"/>
          </a:p>
          <a:p>
            <a:pPr marL="342900" indent="-342900">
              <a:spcAft>
                <a:spcPts val="600"/>
              </a:spcAft>
              <a:buSzPct val="100000"/>
              <a:buChar char="•"/>
            </a:pPr>
            <a:r>
              <a:rPr lang="en-US" sz="1400" dirty="0">
                <a:solidFill>
                  <a:srgbClr val="1F2A3C"/>
                </a:solidFill>
                <a:latin typeface="Calibri" pitchFamily="34" charset="0"/>
                <a:ea typeface="Calibri" pitchFamily="34" charset="-122"/>
                <a:cs typeface="Calibri" pitchFamily="34" charset="-120"/>
              </a:rPr>
              <a:t>Next most likely: Travel (10.5%)</a:t>
            </a:r>
            <a:endParaRPr lang="en-US" sz="1400" dirty="0"/>
          </a:p>
        </p:txBody>
      </p:sp>
      <p:sp>
        <p:nvSpPr>
          <p:cNvPr id="8" name="Shape 5"/>
          <p:cNvSpPr/>
          <p:nvPr/>
        </p:nvSpPr>
        <p:spPr>
          <a:xfrm>
            <a:off x="457200" y="4023360"/>
            <a:ext cx="1463040" cy="640080"/>
          </a:xfrm>
          <a:prstGeom prst="rect">
            <a:avLst/>
          </a:prstGeom>
          <a:solidFill>
            <a:srgbClr val="EEF2F7"/>
          </a:solidFill>
          <a:ln w="12700">
            <a:solidFill>
              <a:srgbClr val="C9D3E0"/>
            </a:solidFill>
            <a:prstDash val="solid"/>
          </a:ln>
        </p:spPr>
        <p:txBody>
          <a:bodyPr/>
          <a:lstStyle/>
          <a:p>
            <a:endParaRPr lang="en-IN"/>
          </a:p>
        </p:txBody>
      </p:sp>
      <p:sp>
        <p:nvSpPr>
          <p:cNvPr id="9" name="Text 6"/>
          <p:cNvSpPr txBox="1"/>
          <p:nvPr/>
        </p:nvSpPr>
        <p:spPr>
          <a:xfrm>
            <a:off x="530352" y="4023360"/>
            <a:ext cx="1316736" cy="64008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Enter or select a song's features</a:t>
            </a:r>
            <a:endParaRPr lang="en-US" sz="1200" dirty="0"/>
          </a:p>
        </p:txBody>
      </p:sp>
      <p:sp>
        <p:nvSpPr>
          <p:cNvPr id="10" name="Shape 7"/>
          <p:cNvSpPr/>
          <p:nvPr/>
        </p:nvSpPr>
        <p:spPr>
          <a:xfrm>
            <a:off x="1920240" y="4343400"/>
            <a:ext cx="228600" cy="0"/>
          </a:xfrm>
          <a:prstGeom prst="line">
            <a:avLst/>
          </a:prstGeom>
          <a:noFill/>
          <a:ln w="19050">
            <a:solidFill>
              <a:srgbClr val="5F6B7A"/>
            </a:solidFill>
            <a:prstDash val="solid"/>
            <a:tailEnd type="triangle"/>
          </a:ln>
        </p:spPr>
        <p:txBody>
          <a:bodyPr/>
          <a:lstStyle/>
          <a:p>
            <a:endParaRPr lang="en-IN"/>
          </a:p>
        </p:txBody>
      </p:sp>
      <p:sp>
        <p:nvSpPr>
          <p:cNvPr id="11" name="Shape 8"/>
          <p:cNvSpPr/>
          <p:nvPr/>
        </p:nvSpPr>
        <p:spPr>
          <a:xfrm>
            <a:off x="2148840" y="4023360"/>
            <a:ext cx="1463040" cy="640080"/>
          </a:xfrm>
          <a:prstGeom prst="rect">
            <a:avLst/>
          </a:prstGeom>
          <a:solidFill>
            <a:srgbClr val="EEF2F7"/>
          </a:solidFill>
          <a:ln w="12700">
            <a:solidFill>
              <a:srgbClr val="C9D3E0"/>
            </a:solidFill>
            <a:prstDash val="solid"/>
          </a:ln>
        </p:spPr>
        <p:txBody>
          <a:bodyPr/>
          <a:lstStyle/>
          <a:p>
            <a:endParaRPr lang="en-IN"/>
          </a:p>
        </p:txBody>
      </p:sp>
      <p:sp>
        <p:nvSpPr>
          <p:cNvPr id="12" name="Text 9"/>
          <p:cNvSpPr txBox="1"/>
          <p:nvPr/>
        </p:nvSpPr>
        <p:spPr>
          <a:xfrm>
            <a:off x="2221992" y="4023360"/>
            <a:ext cx="1316736" cy="64008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Apply the trained scaler</a:t>
            </a:r>
            <a:endParaRPr lang="en-US" sz="1200" dirty="0"/>
          </a:p>
        </p:txBody>
      </p:sp>
      <p:sp>
        <p:nvSpPr>
          <p:cNvPr id="13" name="Shape 10"/>
          <p:cNvSpPr/>
          <p:nvPr/>
        </p:nvSpPr>
        <p:spPr>
          <a:xfrm>
            <a:off x="3611880" y="4343400"/>
            <a:ext cx="228600" cy="0"/>
          </a:xfrm>
          <a:prstGeom prst="line">
            <a:avLst/>
          </a:prstGeom>
          <a:noFill/>
          <a:ln w="19050">
            <a:solidFill>
              <a:srgbClr val="5F6B7A"/>
            </a:solidFill>
            <a:prstDash val="solid"/>
            <a:tailEnd type="triangle"/>
          </a:ln>
        </p:spPr>
        <p:txBody>
          <a:bodyPr/>
          <a:lstStyle/>
          <a:p>
            <a:endParaRPr lang="en-IN"/>
          </a:p>
        </p:txBody>
      </p:sp>
      <p:sp>
        <p:nvSpPr>
          <p:cNvPr id="14" name="Shape 11"/>
          <p:cNvSpPr/>
          <p:nvPr/>
        </p:nvSpPr>
        <p:spPr>
          <a:xfrm>
            <a:off x="3840480" y="4023360"/>
            <a:ext cx="1463040" cy="640080"/>
          </a:xfrm>
          <a:prstGeom prst="rect">
            <a:avLst/>
          </a:prstGeom>
          <a:solidFill>
            <a:srgbClr val="EEF2F7"/>
          </a:solidFill>
          <a:ln w="12700">
            <a:solidFill>
              <a:srgbClr val="C9D3E0"/>
            </a:solidFill>
            <a:prstDash val="solid"/>
          </a:ln>
        </p:spPr>
        <p:txBody>
          <a:bodyPr/>
          <a:lstStyle/>
          <a:p>
            <a:endParaRPr lang="en-IN"/>
          </a:p>
        </p:txBody>
      </p:sp>
      <p:sp>
        <p:nvSpPr>
          <p:cNvPr id="15" name="Text 12"/>
          <p:cNvSpPr txBox="1"/>
          <p:nvPr/>
        </p:nvSpPr>
        <p:spPr>
          <a:xfrm>
            <a:off x="3913632" y="4023360"/>
            <a:ext cx="1316736" cy="64008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Pass to the selected classifier</a:t>
            </a:r>
            <a:endParaRPr lang="en-US" sz="1200" dirty="0"/>
          </a:p>
        </p:txBody>
      </p:sp>
      <p:sp>
        <p:nvSpPr>
          <p:cNvPr id="16" name="Shape 13"/>
          <p:cNvSpPr/>
          <p:nvPr/>
        </p:nvSpPr>
        <p:spPr>
          <a:xfrm>
            <a:off x="5303520" y="4343400"/>
            <a:ext cx="228600" cy="0"/>
          </a:xfrm>
          <a:prstGeom prst="line">
            <a:avLst/>
          </a:prstGeom>
          <a:noFill/>
          <a:ln w="19050">
            <a:solidFill>
              <a:srgbClr val="5F6B7A"/>
            </a:solidFill>
            <a:prstDash val="solid"/>
            <a:tailEnd type="triangle"/>
          </a:ln>
        </p:spPr>
        <p:txBody>
          <a:bodyPr/>
          <a:lstStyle/>
          <a:p>
            <a:endParaRPr lang="en-IN"/>
          </a:p>
        </p:txBody>
      </p:sp>
      <p:sp>
        <p:nvSpPr>
          <p:cNvPr id="17" name="Shape 14"/>
          <p:cNvSpPr/>
          <p:nvPr/>
        </p:nvSpPr>
        <p:spPr>
          <a:xfrm>
            <a:off x="5532120" y="4023360"/>
            <a:ext cx="1463040" cy="640080"/>
          </a:xfrm>
          <a:prstGeom prst="rect">
            <a:avLst/>
          </a:prstGeom>
          <a:solidFill>
            <a:srgbClr val="E3F1F2"/>
          </a:solidFill>
          <a:ln w="12700">
            <a:solidFill>
              <a:srgbClr val="0F7C8A"/>
            </a:solidFill>
            <a:prstDash val="solid"/>
          </a:ln>
        </p:spPr>
        <p:txBody>
          <a:bodyPr/>
          <a:lstStyle/>
          <a:p>
            <a:endParaRPr lang="en-IN"/>
          </a:p>
        </p:txBody>
      </p:sp>
      <p:sp>
        <p:nvSpPr>
          <p:cNvPr id="18" name="Text 15"/>
          <p:cNvSpPr txBox="1"/>
          <p:nvPr/>
        </p:nvSpPr>
        <p:spPr>
          <a:xfrm>
            <a:off x="5605272" y="4023360"/>
            <a:ext cx="1316736" cy="64008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Show the predicted playlist</a:t>
            </a:r>
            <a:endParaRPr lang="en-US" sz="1200" dirty="0"/>
          </a:p>
        </p:txBody>
      </p:sp>
      <p:sp>
        <p:nvSpPr>
          <p:cNvPr id="19" name="Shape 16"/>
          <p:cNvSpPr/>
          <p:nvPr/>
        </p:nvSpPr>
        <p:spPr>
          <a:xfrm>
            <a:off x="6995160" y="4343400"/>
            <a:ext cx="228600" cy="0"/>
          </a:xfrm>
          <a:prstGeom prst="line">
            <a:avLst/>
          </a:prstGeom>
          <a:noFill/>
          <a:ln w="19050">
            <a:solidFill>
              <a:srgbClr val="5F6B7A"/>
            </a:solidFill>
            <a:prstDash val="solid"/>
            <a:tailEnd type="triangle"/>
          </a:ln>
        </p:spPr>
        <p:txBody>
          <a:bodyPr/>
          <a:lstStyle/>
          <a:p>
            <a:endParaRPr lang="en-IN"/>
          </a:p>
        </p:txBody>
      </p:sp>
      <p:sp>
        <p:nvSpPr>
          <p:cNvPr id="20" name="Shape 17"/>
          <p:cNvSpPr/>
          <p:nvPr/>
        </p:nvSpPr>
        <p:spPr>
          <a:xfrm>
            <a:off x="7223760" y="4023360"/>
            <a:ext cx="1463040" cy="640080"/>
          </a:xfrm>
          <a:prstGeom prst="rect">
            <a:avLst/>
          </a:prstGeom>
          <a:solidFill>
            <a:srgbClr val="EEF2F7"/>
          </a:solidFill>
          <a:ln w="12700">
            <a:solidFill>
              <a:srgbClr val="C9D3E0"/>
            </a:solidFill>
            <a:prstDash val="solid"/>
          </a:ln>
        </p:spPr>
        <p:txBody>
          <a:bodyPr/>
          <a:lstStyle/>
          <a:p>
            <a:endParaRPr lang="en-IN"/>
          </a:p>
        </p:txBody>
      </p:sp>
      <p:sp>
        <p:nvSpPr>
          <p:cNvPr id="21" name="Text 18"/>
          <p:cNvSpPr txBox="1"/>
          <p:nvPr/>
        </p:nvSpPr>
        <p:spPr>
          <a:xfrm>
            <a:off x="7296912" y="4023360"/>
            <a:ext cx="1316736" cy="640080"/>
          </a:xfrm>
          <a:prstGeom prst="rect">
            <a:avLst/>
          </a:prstGeom>
          <a:noFill/>
          <a:ln/>
        </p:spPr>
        <p:txBody>
          <a:bodyPr wrap="square" lIns="0" tIns="0" rIns="0" bIns="0" rtlCol="0" anchor="ctr"/>
          <a:lstStyle/>
          <a:p>
            <a:pPr marL="0" indent="0" algn="ctr">
              <a:buNone/>
            </a:pPr>
            <a:r>
              <a:rPr lang="en-US" sz="1200" dirty="0">
                <a:solidFill>
                  <a:srgbClr val="1F2A3C"/>
                </a:solidFill>
                <a:latin typeface="Calibri" pitchFamily="34" charset="0"/>
                <a:ea typeface="Calibri" pitchFamily="34" charset="-122"/>
                <a:cs typeface="Calibri" pitchFamily="34" charset="-120"/>
              </a:rPr>
              <a:t>Show confidence for top-5</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9</a:t>
            </a:fld>
            <a:endParaRPr lang="en-US"/>
          </a:p>
        </p:txBody>
      </p:sp>
      <p:sp>
        <p:nvSpPr>
          <p:cNvPr id="22" name="Rectangle 21">
            <a:extLst>
              <a:ext uri="{FF2B5EF4-FFF2-40B4-BE49-F238E27FC236}">
                <a16:creationId xmlns:a16="http://schemas.microsoft.com/office/drawing/2014/main" id="{56B2032A-A2D5-5485-94E6-33C3D831521C}"/>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Similar-Song Recommendation</a:t>
            </a:r>
            <a:endParaRPr lang="en-US" sz="2800" dirty="0"/>
          </a:p>
        </p:txBody>
      </p:sp>
      <p:sp>
        <p:nvSpPr>
          <p:cNvPr id="3" name="Shape 1"/>
          <p:cNvSpPr/>
          <p:nvPr/>
        </p:nvSpPr>
        <p:spPr>
          <a:xfrm>
            <a:off x="457200" y="1051560"/>
            <a:ext cx="5577840" cy="640080"/>
          </a:xfrm>
          <a:prstGeom prst="rect">
            <a:avLst/>
          </a:prstGeom>
          <a:solidFill>
            <a:srgbClr val="E3F1F2"/>
          </a:solidFill>
          <a:ln/>
        </p:spPr>
        <p:txBody>
          <a:bodyPr/>
          <a:lstStyle/>
          <a:p>
            <a:endParaRPr lang="en-IN"/>
          </a:p>
        </p:txBody>
      </p:sp>
      <p:sp>
        <p:nvSpPr>
          <p:cNvPr id="4" name="Text 2"/>
          <p:cNvSpPr txBox="1"/>
          <p:nvPr/>
        </p:nvSpPr>
        <p:spPr>
          <a:xfrm>
            <a:off x="457200" y="1051560"/>
            <a:ext cx="5577840" cy="640080"/>
          </a:xfrm>
          <a:prstGeom prst="rect">
            <a:avLst/>
          </a:prstGeom>
          <a:noFill/>
          <a:ln/>
        </p:spPr>
        <p:txBody>
          <a:bodyPr wrap="square" lIns="0" tIns="0" rIns="0" bIns="0" rtlCol="0" anchor="ctr"/>
          <a:lstStyle/>
          <a:p>
            <a:pPr marL="0" indent="0" algn="ctr">
              <a:buNone/>
            </a:pPr>
            <a:r>
              <a:rPr lang="en-US" sz="2200" b="1" dirty="0">
                <a:solidFill>
                  <a:srgbClr val="14284B"/>
                </a:solidFill>
                <a:latin typeface="Calibri" pitchFamily="34" charset="0"/>
                <a:ea typeface="Calibri" pitchFamily="34" charset="-122"/>
                <a:cs typeface="Calibri" pitchFamily="34" charset="-120"/>
              </a:rPr>
              <a:t>Similarity(A, B) = (A · B) / (‖A‖ × ‖B‖)</a:t>
            </a:r>
            <a:endParaRPr lang="en-US" sz="2200" dirty="0"/>
          </a:p>
        </p:txBody>
      </p:sp>
      <p:sp>
        <p:nvSpPr>
          <p:cNvPr id="5" name="Shape 3"/>
          <p:cNvSpPr/>
          <p:nvPr/>
        </p:nvSpPr>
        <p:spPr>
          <a:xfrm>
            <a:off x="457200" y="1920240"/>
            <a:ext cx="365760" cy="365760"/>
          </a:xfrm>
          <a:prstGeom prst="ellipse">
            <a:avLst/>
          </a:prstGeom>
          <a:solidFill>
            <a:srgbClr val="0F7C8A"/>
          </a:solidFill>
          <a:ln/>
        </p:spPr>
        <p:txBody>
          <a:bodyPr/>
          <a:lstStyle/>
          <a:p>
            <a:endParaRPr lang="en-IN"/>
          </a:p>
        </p:txBody>
      </p:sp>
      <p:sp>
        <p:nvSpPr>
          <p:cNvPr id="6" name="Text 4"/>
          <p:cNvSpPr txBox="1"/>
          <p:nvPr/>
        </p:nvSpPr>
        <p:spPr>
          <a:xfrm>
            <a:off x="457200" y="19202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0120" y="1920240"/>
            <a:ext cx="2103120" cy="50292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Select a reference song</a:t>
            </a:r>
            <a:endParaRPr lang="en-US" sz="1400" dirty="0"/>
          </a:p>
        </p:txBody>
      </p:sp>
      <p:sp>
        <p:nvSpPr>
          <p:cNvPr id="8" name="Shape 6"/>
          <p:cNvSpPr/>
          <p:nvPr/>
        </p:nvSpPr>
        <p:spPr>
          <a:xfrm>
            <a:off x="457200" y="2560320"/>
            <a:ext cx="365760" cy="365760"/>
          </a:xfrm>
          <a:prstGeom prst="ellipse">
            <a:avLst/>
          </a:prstGeom>
          <a:solidFill>
            <a:srgbClr val="0F7C8A"/>
          </a:solidFill>
          <a:ln/>
        </p:spPr>
        <p:txBody>
          <a:bodyPr/>
          <a:lstStyle/>
          <a:p>
            <a:endParaRPr lang="en-IN"/>
          </a:p>
        </p:txBody>
      </p:sp>
      <p:sp>
        <p:nvSpPr>
          <p:cNvPr id="9" name="Text 7"/>
          <p:cNvSpPr txBox="1"/>
          <p:nvPr/>
        </p:nvSpPr>
        <p:spPr>
          <a:xfrm>
            <a:off x="457200" y="2560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0120" y="2560320"/>
            <a:ext cx="2103120" cy="50292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Take its scaled audio features</a:t>
            </a:r>
            <a:endParaRPr lang="en-US" sz="1400" dirty="0"/>
          </a:p>
        </p:txBody>
      </p:sp>
      <p:sp>
        <p:nvSpPr>
          <p:cNvPr id="11" name="Shape 9"/>
          <p:cNvSpPr/>
          <p:nvPr/>
        </p:nvSpPr>
        <p:spPr>
          <a:xfrm>
            <a:off x="457200" y="3200400"/>
            <a:ext cx="365760" cy="365760"/>
          </a:xfrm>
          <a:prstGeom prst="ellipse">
            <a:avLst/>
          </a:prstGeom>
          <a:solidFill>
            <a:srgbClr val="0F7C8A"/>
          </a:solidFill>
          <a:ln/>
        </p:spPr>
        <p:txBody>
          <a:bodyPr/>
          <a:lstStyle/>
          <a:p>
            <a:endParaRPr lang="en-IN"/>
          </a:p>
        </p:txBody>
      </p:sp>
      <p:sp>
        <p:nvSpPr>
          <p:cNvPr id="12" name="Text 10"/>
          <p:cNvSpPr txBox="1"/>
          <p:nvPr/>
        </p:nvSpPr>
        <p:spPr>
          <a:xfrm>
            <a:off x="457200" y="32004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0120" y="3200400"/>
            <a:ext cx="2103120" cy="50292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Compare with every candidate song</a:t>
            </a:r>
            <a:endParaRPr lang="en-US" sz="1400" dirty="0"/>
          </a:p>
        </p:txBody>
      </p:sp>
      <p:sp>
        <p:nvSpPr>
          <p:cNvPr id="14" name="Shape 12"/>
          <p:cNvSpPr/>
          <p:nvPr/>
        </p:nvSpPr>
        <p:spPr>
          <a:xfrm>
            <a:off x="457200" y="3840480"/>
            <a:ext cx="365760" cy="365760"/>
          </a:xfrm>
          <a:prstGeom prst="ellipse">
            <a:avLst/>
          </a:prstGeom>
          <a:solidFill>
            <a:srgbClr val="0F7C8A"/>
          </a:solidFill>
          <a:ln/>
        </p:spPr>
        <p:txBody>
          <a:bodyPr/>
          <a:lstStyle/>
          <a:p>
            <a:endParaRPr lang="en-IN"/>
          </a:p>
        </p:txBody>
      </p:sp>
      <p:sp>
        <p:nvSpPr>
          <p:cNvPr id="15" name="Text 13"/>
          <p:cNvSpPr txBox="1"/>
          <p:nvPr/>
        </p:nvSpPr>
        <p:spPr>
          <a:xfrm>
            <a:off x="457200" y="38404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0120" y="3840480"/>
            <a:ext cx="2103120" cy="502920"/>
          </a:xfrm>
          <a:prstGeom prst="rect">
            <a:avLst/>
          </a:prstGeom>
          <a:noFill/>
          <a:ln/>
        </p:spPr>
        <p:txBody>
          <a:bodyPr wrap="square" lIns="0" tIns="0" rIns="0" bIns="0" rtlCol="0" anchor="t"/>
          <a:lstStyle/>
          <a:p>
            <a:pPr marL="0" indent="0">
              <a:buNone/>
            </a:pPr>
            <a:r>
              <a:rPr lang="en-US" sz="1400" dirty="0">
                <a:solidFill>
                  <a:srgbClr val="1F2A3C"/>
                </a:solidFill>
                <a:latin typeface="Calibri" pitchFamily="34" charset="0"/>
                <a:ea typeface="Calibri" pitchFamily="34" charset="-122"/>
                <a:cs typeface="Calibri" pitchFamily="34" charset="-120"/>
              </a:rPr>
              <a:t>Rank by score and return the top N</a:t>
            </a:r>
            <a:endParaRPr lang="en-US" sz="1400" dirty="0"/>
          </a:p>
        </p:txBody>
      </p:sp>
      <p:sp>
        <p:nvSpPr>
          <p:cNvPr id="17" name="Shape 15"/>
          <p:cNvSpPr/>
          <p:nvPr/>
        </p:nvSpPr>
        <p:spPr>
          <a:xfrm>
            <a:off x="3520440" y="4160520"/>
            <a:ext cx="2377440" cy="0"/>
          </a:xfrm>
          <a:prstGeom prst="line">
            <a:avLst/>
          </a:prstGeom>
          <a:noFill/>
          <a:ln w="19050">
            <a:solidFill>
              <a:srgbClr val="C9D3E0"/>
            </a:solidFill>
            <a:prstDash val="solid"/>
            <a:tailEnd type="triangle"/>
          </a:ln>
        </p:spPr>
        <p:txBody>
          <a:bodyPr/>
          <a:lstStyle/>
          <a:p>
            <a:endParaRPr lang="en-IN"/>
          </a:p>
        </p:txBody>
      </p:sp>
      <p:sp>
        <p:nvSpPr>
          <p:cNvPr id="18" name="Shape 16"/>
          <p:cNvSpPr/>
          <p:nvPr/>
        </p:nvSpPr>
        <p:spPr>
          <a:xfrm flipV="1">
            <a:off x="3520440" y="1920240"/>
            <a:ext cx="0" cy="2240280"/>
          </a:xfrm>
          <a:prstGeom prst="line">
            <a:avLst/>
          </a:prstGeom>
          <a:noFill/>
          <a:ln w="19050">
            <a:solidFill>
              <a:srgbClr val="C9D3E0"/>
            </a:solidFill>
            <a:prstDash val="solid"/>
            <a:tailEnd type="triangle"/>
          </a:ln>
        </p:spPr>
        <p:txBody>
          <a:bodyPr/>
          <a:lstStyle/>
          <a:p>
            <a:endParaRPr lang="en-IN"/>
          </a:p>
        </p:txBody>
      </p:sp>
      <p:sp>
        <p:nvSpPr>
          <p:cNvPr id="19" name="Shape 17"/>
          <p:cNvSpPr/>
          <p:nvPr/>
        </p:nvSpPr>
        <p:spPr>
          <a:xfrm flipV="1">
            <a:off x="3520440" y="2331720"/>
            <a:ext cx="2011680" cy="1828800"/>
          </a:xfrm>
          <a:prstGeom prst="line">
            <a:avLst/>
          </a:prstGeom>
          <a:noFill/>
          <a:ln w="28575">
            <a:solidFill>
              <a:srgbClr val="14284B"/>
            </a:solidFill>
            <a:prstDash val="solid"/>
            <a:tailEnd type="triangle"/>
          </a:ln>
        </p:spPr>
        <p:txBody>
          <a:bodyPr/>
          <a:lstStyle/>
          <a:p>
            <a:endParaRPr lang="en-IN"/>
          </a:p>
        </p:txBody>
      </p:sp>
      <p:sp>
        <p:nvSpPr>
          <p:cNvPr id="20" name="Shape 18"/>
          <p:cNvSpPr/>
          <p:nvPr/>
        </p:nvSpPr>
        <p:spPr>
          <a:xfrm flipV="1">
            <a:off x="3520440" y="3154680"/>
            <a:ext cx="2286000" cy="1005840"/>
          </a:xfrm>
          <a:prstGeom prst="line">
            <a:avLst/>
          </a:prstGeom>
          <a:noFill/>
          <a:ln w="28575">
            <a:solidFill>
              <a:srgbClr val="0F7C8A"/>
            </a:solidFill>
            <a:prstDash val="solid"/>
            <a:tailEnd type="triangle"/>
          </a:ln>
        </p:spPr>
        <p:txBody>
          <a:bodyPr/>
          <a:lstStyle/>
          <a:p>
            <a:endParaRPr lang="en-IN"/>
          </a:p>
        </p:txBody>
      </p:sp>
      <p:sp>
        <p:nvSpPr>
          <p:cNvPr id="21" name="Text 19"/>
          <p:cNvSpPr txBox="1"/>
          <p:nvPr/>
        </p:nvSpPr>
        <p:spPr>
          <a:xfrm>
            <a:off x="5394960" y="2103120"/>
            <a:ext cx="365760" cy="274320"/>
          </a:xfrm>
          <a:prstGeom prst="rect">
            <a:avLst/>
          </a:prstGeom>
          <a:noFill/>
          <a:ln/>
        </p:spPr>
        <p:txBody>
          <a:bodyPr wrap="square" lIns="0" tIns="0" rIns="0" bIns="0" rtlCol="0" anchor="t"/>
          <a:lstStyle/>
          <a:p>
            <a:pPr marL="0" indent="0">
              <a:buNone/>
            </a:pPr>
            <a:r>
              <a:rPr lang="en-US" sz="1400" b="1" dirty="0">
                <a:solidFill>
                  <a:srgbClr val="14284B"/>
                </a:solidFill>
                <a:latin typeface="Calibri" pitchFamily="34" charset="0"/>
                <a:ea typeface="Calibri" pitchFamily="34" charset="-122"/>
                <a:cs typeface="Calibri" pitchFamily="34" charset="-120"/>
              </a:rPr>
              <a:t>A</a:t>
            </a:r>
            <a:endParaRPr lang="en-US" sz="1400" dirty="0"/>
          </a:p>
        </p:txBody>
      </p:sp>
      <p:sp>
        <p:nvSpPr>
          <p:cNvPr id="22" name="Text 20"/>
          <p:cNvSpPr txBox="1"/>
          <p:nvPr/>
        </p:nvSpPr>
        <p:spPr>
          <a:xfrm>
            <a:off x="5669280" y="2926080"/>
            <a:ext cx="365760" cy="274320"/>
          </a:xfrm>
          <a:prstGeom prst="rect">
            <a:avLst/>
          </a:prstGeom>
          <a:noFill/>
          <a:ln/>
        </p:spPr>
        <p:txBody>
          <a:bodyPr wrap="square" lIns="0" tIns="0" rIns="0" bIns="0" rtlCol="0" anchor="t"/>
          <a:lstStyle/>
          <a:p>
            <a:pPr marL="0" indent="0">
              <a:buNone/>
            </a:pPr>
            <a:r>
              <a:rPr lang="en-US" sz="1400" b="1" dirty="0">
                <a:solidFill>
                  <a:srgbClr val="0F7C8A"/>
                </a:solidFill>
                <a:latin typeface="Calibri" pitchFamily="34" charset="0"/>
                <a:ea typeface="Calibri" pitchFamily="34" charset="-122"/>
                <a:cs typeface="Calibri" pitchFamily="34" charset="-120"/>
              </a:rPr>
              <a:t>B</a:t>
            </a:r>
            <a:endParaRPr lang="en-US" sz="1400" dirty="0"/>
          </a:p>
        </p:txBody>
      </p:sp>
      <p:sp>
        <p:nvSpPr>
          <p:cNvPr id="23" name="Text 21"/>
          <p:cNvSpPr txBox="1"/>
          <p:nvPr/>
        </p:nvSpPr>
        <p:spPr>
          <a:xfrm>
            <a:off x="4572000" y="3246120"/>
            <a:ext cx="365760" cy="274320"/>
          </a:xfrm>
          <a:prstGeom prst="rect">
            <a:avLst/>
          </a:prstGeom>
          <a:noFill/>
          <a:ln/>
        </p:spPr>
        <p:txBody>
          <a:bodyPr wrap="square" lIns="0" tIns="0" rIns="0" bIns="0" rtlCol="0" anchor="t"/>
          <a:lstStyle/>
          <a:p>
            <a:pPr marL="0" indent="0">
              <a:buNone/>
            </a:pPr>
            <a:r>
              <a:rPr lang="en-US" sz="1600" b="1" dirty="0">
                <a:solidFill>
                  <a:srgbClr val="1F2A3C"/>
                </a:solidFill>
                <a:latin typeface="Calibri" pitchFamily="34" charset="0"/>
                <a:ea typeface="Calibri" pitchFamily="34" charset="-122"/>
                <a:cs typeface="Calibri" pitchFamily="34" charset="-120"/>
              </a:rPr>
              <a:t>θ</a:t>
            </a:r>
            <a:endParaRPr lang="en-US" sz="1600" dirty="0"/>
          </a:p>
        </p:txBody>
      </p:sp>
      <p:sp>
        <p:nvSpPr>
          <p:cNvPr id="24" name="Text 22"/>
          <p:cNvSpPr txBox="1"/>
          <p:nvPr/>
        </p:nvSpPr>
        <p:spPr>
          <a:xfrm>
            <a:off x="3200400" y="4297680"/>
            <a:ext cx="2834640" cy="411480"/>
          </a:xfrm>
          <a:prstGeom prst="rect">
            <a:avLst/>
          </a:prstGeom>
          <a:noFill/>
          <a:ln/>
        </p:spPr>
        <p:txBody>
          <a:bodyPr wrap="square" lIns="0" tIns="0" rIns="0" bIns="0" rtlCol="0" anchor="t"/>
          <a:lstStyle/>
          <a:p>
            <a:pPr marL="0" indent="0">
              <a:buNone/>
            </a:pPr>
            <a:r>
              <a:rPr lang="en-US" sz="1100" dirty="0">
                <a:solidFill>
                  <a:srgbClr val="5F6B7A"/>
                </a:solidFill>
                <a:latin typeface="Calibri" pitchFamily="34" charset="0"/>
                <a:ea typeface="Calibri" pitchFamily="34" charset="-122"/>
                <a:cs typeface="Calibri" pitchFamily="34" charset="-120"/>
              </a:rPr>
              <a:t>Smaller angle θ = higher similarity (illustration with two features)</a:t>
            </a:r>
            <a:endParaRPr lang="en-US" sz="1100" dirty="0"/>
          </a:p>
        </p:txBody>
      </p:sp>
      <p:pic>
        <p:nvPicPr>
          <p:cNvPr id="25" name="Similar songs screenshot (original app)" descr="Similar Songs panel of the application"/>
          <p:cNvPicPr>
            <a:picLocks noChangeAspect="1"/>
          </p:cNvPicPr>
          <p:nvPr/>
        </p:nvPicPr>
        <p:blipFill>
          <a:blip r:embed="rId3"/>
          <a:stretch>
            <a:fillRect/>
          </a:stretch>
        </p:blipFill>
        <p:spPr>
          <a:xfrm>
            <a:off x="6355080" y="1051560"/>
            <a:ext cx="2331720" cy="3206115"/>
          </a:xfrm>
          <a:prstGeom prst="rect">
            <a:avLst/>
          </a:prstGeom>
        </p:spPr>
      </p:pic>
      <p:sp>
        <p:nvSpPr>
          <p:cNvPr id="26" name="Shape 23"/>
          <p:cNvSpPr/>
          <p:nvPr/>
        </p:nvSpPr>
        <p:spPr>
          <a:xfrm>
            <a:off x="6355080" y="1051560"/>
            <a:ext cx="2331720" cy="3206115"/>
          </a:xfrm>
          <a:prstGeom prst="rect">
            <a:avLst/>
          </a:prstGeom>
          <a:ln w="12700">
            <a:solidFill>
              <a:srgbClr val="C9D3E0"/>
            </a:solidFill>
            <a:prstDash val="solid"/>
          </a:ln>
        </p:spPr>
        <p:txBody>
          <a:bodyPr/>
          <a:lstStyle/>
          <a:p>
            <a:endParaRPr lang="en-IN"/>
          </a:p>
        </p:txBody>
      </p:sp>
      <p:sp>
        <p:nvSpPr>
          <p:cNvPr id="27" name="Text 24"/>
          <p:cNvSpPr txBox="1"/>
          <p:nvPr/>
        </p:nvSpPr>
        <p:spPr>
          <a:xfrm>
            <a:off x="6355080" y="4315968"/>
            <a:ext cx="2331720" cy="365760"/>
          </a:xfrm>
          <a:prstGeom prst="rect">
            <a:avLst/>
          </a:prstGeom>
          <a:noFill/>
          <a:ln/>
        </p:spPr>
        <p:txBody>
          <a:bodyPr wrap="square" lIns="0" tIns="0" rIns="0" bIns="0" rtlCol="0" anchor="t"/>
          <a:lstStyle/>
          <a:p>
            <a:pPr marL="0" indent="0">
              <a:buNone/>
            </a:pPr>
            <a:r>
              <a:rPr lang="en-US" sz="1100" dirty="0">
                <a:solidFill>
                  <a:srgbClr val="5F6B7A"/>
                </a:solidFill>
                <a:latin typeface="Calibri" pitchFamily="34" charset="0"/>
                <a:ea typeface="Calibri" pitchFamily="34" charset="-122"/>
                <a:cs typeface="Calibri" pitchFamily="34" charset="-120"/>
              </a:rPr>
              <a:t>Similar Songs panel with a similarity badge per song.</a:t>
            </a:r>
            <a:endParaRPr lang="en-US" sz="1100" dirty="0"/>
          </a:p>
        </p:txBody>
      </p:sp>
      <p:sp>
        <p:nvSpPr>
          <p:cNvPr id="28"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10</a:t>
            </a:fld>
            <a:endParaRPr lang="en-US"/>
          </a:p>
        </p:txBody>
      </p:sp>
      <p:sp>
        <p:nvSpPr>
          <p:cNvPr id="29" name="Rectangle 28">
            <a:extLst>
              <a:ext uri="{FF2B5EF4-FFF2-40B4-BE49-F238E27FC236}">
                <a16:creationId xmlns:a16="http://schemas.microsoft.com/office/drawing/2014/main" id="{9AD7D761-CFEB-478E-AAD4-4B29DBA46FE3}"/>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Technology Stack and Music Preview</a:t>
            </a:r>
            <a:endParaRPr lang="en-US" sz="2800" dirty="0"/>
          </a:p>
        </p:txBody>
      </p:sp>
      <p:sp>
        <p:nvSpPr>
          <p:cNvPr id="3" name="Shape 1"/>
          <p:cNvSpPr/>
          <p:nvPr/>
        </p:nvSpPr>
        <p:spPr>
          <a:xfrm>
            <a:off x="457200" y="1097280"/>
            <a:ext cx="4297680" cy="731520"/>
          </a:xfrm>
          <a:prstGeom prst="rect">
            <a:avLst/>
          </a:prstGeom>
          <a:solidFill>
            <a:srgbClr val="EEF2F7"/>
          </a:solidFill>
          <a:ln/>
        </p:spPr>
        <p:txBody>
          <a:bodyPr/>
          <a:lstStyle/>
          <a:p>
            <a:endParaRPr lang="en-IN"/>
          </a:p>
        </p:txBody>
      </p:sp>
      <p:sp>
        <p:nvSpPr>
          <p:cNvPr id="4" name="Text 2"/>
          <p:cNvSpPr txBox="1"/>
          <p:nvPr/>
        </p:nvSpPr>
        <p:spPr>
          <a:xfrm>
            <a:off x="594360" y="1097280"/>
            <a:ext cx="1234440" cy="731520"/>
          </a:xfrm>
          <a:prstGeom prst="rect">
            <a:avLst/>
          </a:prstGeom>
          <a:noFill/>
          <a:ln/>
        </p:spPr>
        <p:txBody>
          <a:bodyPr wrap="square" lIns="0" tIns="0" rIns="0" bIns="0" rtlCol="0" anchor="ctr"/>
          <a:lstStyle/>
          <a:p>
            <a:pPr marL="0" indent="0">
              <a:buNone/>
            </a:pPr>
            <a:r>
              <a:rPr lang="en-US" sz="1400" b="1" dirty="0">
                <a:solidFill>
                  <a:srgbClr val="14284B"/>
                </a:solidFill>
                <a:latin typeface="Calibri" pitchFamily="34" charset="0"/>
                <a:ea typeface="Calibri" pitchFamily="34" charset="-122"/>
                <a:cs typeface="Calibri" pitchFamily="34" charset="-120"/>
              </a:rPr>
              <a:t>Frontend</a:t>
            </a:r>
            <a:endParaRPr lang="en-US" sz="1400" dirty="0"/>
          </a:p>
        </p:txBody>
      </p:sp>
      <p:sp>
        <p:nvSpPr>
          <p:cNvPr id="5" name="Text 3"/>
          <p:cNvSpPr txBox="1"/>
          <p:nvPr/>
        </p:nvSpPr>
        <p:spPr>
          <a:xfrm>
            <a:off x="1828800" y="1097280"/>
            <a:ext cx="2834640" cy="73152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React, Vite, Tailwind CSS, Recharts, Lucide</a:t>
            </a:r>
            <a:endParaRPr lang="en-US" sz="1400" dirty="0"/>
          </a:p>
        </p:txBody>
      </p:sp>
      <p:sp>
        <p:nvSpPr>
          <p:cNvPr id="6" name="Shape 4"/>
          <p:cNvSpPr/>
          <p:nvPr/>
        </p:nvSpPr>
        <p:spPr>
          <a:xfrm>
            <a:off x="457200" y="1965960"/>
            <a:ext cx="4297680" cy="731520"/>
          </a:xfrm>
          <a:prstGeom prst="rect">
            <a:avLst/>
          </a:prstGeom>
          <a:solidFill>
            <a:srgbClr val="EEF2F7"/>
          </a:solidFill>
          <a:ln/>
        </p:spPr>
        <p:txBody>
          <a:bodyPr/>
          <a:lstStyle/>
          <a:p>
            <a:endParaRPr lang="en-IN"/>
          </a:p>
        </p:txBody>
      </p:sp>
      <p:sp>
        <p:nvSpPr>
          <p:cNvPr id="7" name="Text 5"/>
          <p:cNvSpPr txBox="1"/>
          <p:nvPr/>
        </p:nvSpPr>
        <p:spPr>
          <a:xfrm>
            <a:off x="594360" y="1965960"/>
            <a:ext cx="1234440" cy="731520"/>
          </a:xfrm>
          <a:prstGeom prst="rect">
            <a:avLst/>
          </a:prstGeom>
          <a:noFill/>
          <a:ln/>
        </p:spPr>
        <p:txBody>
          <a:bodyPr wrap="square" lIns="0" tIns="0" rIns="0" bIns="0" rtlCol="0" anchor="ctr"/>
          <a:lstStyle/>
          <a:p>
            <a:pPr marL="0" indent="0">
              <a:buNone/>
            </a:pPr>
            <a:r>
              <a:rPr lang="en-US" sz="1400" b="1" dirty="0">
                <a:solidFill>
                  <a:srgbClr val="14284B"/>
                </a:solidFill>
                <a:latin typeface="Calibri" pitchFamily="34" charset="0"/>
                <a:ea typeface="Calibri" pitchFamily="34" charset="-122"/>
                <a:cs typeface="Calibri" pitchFamily="34" charset="-120"/>
              </a:rPr>
              <a:t>Backend</a:t>
            </a:r>
            <a:endParaRPr lang="en-US" sz="1400" dirty="0"/>
          </a:p>
        </p:txBody>
      </p:sp>
      <p:sp>
        <p:nvSpPr>
          <p:cNvPr id="8" name="Text 6"/>
          <p:cNvSpPr txBox="1"/>
          <p:nvPr/>
        </p:nvSpPr>
        <p:spPr>
          <a:xfrm>
            <a:off x="1828800" y="1965960"/>
            <a:ext cx="2834640" cy="73152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Python, FastAPI, Uvicorn</a:t>
            </a:r>
            <a:endParaRPr lang="en-US" sz="1400" dirty="0"/>
          </a:p>
        </p:txBody>
      </p:sp>
      <p:sp>
        <p:nvSpPr>
          <p:cNvPr id="9" name="Shape 7"/>
          <p:cNvSpPr/>
          <p:nvPr/>
        </p:nvSpPr>
        <p:spPr>
          <a:xfrm>
            <a:off x="457200" y="2834640"/>
            <a:ext cx="4297680" cy="731520"/>
          </a:xfrm>
          <a:prstGeom prst="rect">
            <a:avLst/>
          </a:prstGeom>
          <a:solidFill>
            <a:srgbClr val="EEF2F7"/>
          </a:solidFill>
          <a:ln/>
        </p:spPr>
        <p:txBody>
          <a:bodyPr/>
          <a:lstStyle/>
          <a:p>
            <a:endParaRPr lang="en-IN"/>
          </a:p>
        </p:txBody>
      </p:sp>
      <p:sp>
        <p:nvSpPr>
          <p:cNvPr id="10" name="Text 8"/>
          <p:cNvSpPr txBox="1"/>
          <p:nvPr/>
        </p:nvSpPr>
        <p:spPr>
          <a:xfrm>
            <a:off x="594360" y="2834640"/>
            <a:ext cx="1234440" cy="731520"/>
          </a:xfrm>
          <a:prstGeom prst="rect">
            <a:avLst/>
          </a:prstGeom>
          <a:noFill/>
          <a:ln/>
        </p:spPr>
        <p:txBody>
          <a:bodyPr wrap="square" lIns="0" tIns="0" rIns="0" bIns="0" rtlCol="0" anchor="ctr"/>
          <a:lstStyle/>
          <a:p>
            <a:pPr marL="0" indent="0">
              <a:buNone/>
            </a:pPr>
            <a:r>
              <a:rPr lang="en-US" sz="1400" b="1" dirty="0">
                <a:solidFill>
                  <a:srgbClr val="14284B"/>
                </a:solidFill>
                <a:latin typeface="Calibri" pitchFamily="34" charset="0"/>
                <a:ea typeface="Calibri" pitchFamily="34" charset="-122"/>
                <a:cs typeface="Calibri" pitchFamily="34" charset="-120"/>
              </a:rPr>
              <a:t>ML and data</a:t>
            </a:r>
            <a:endParaRPr lang="en-US" sz="1400" dirty="0"/>
          </a:p>
        </p:txBody>
      </p:sp>
      <p:sp>
        <p:nvSpPr>
          <p:cNvPr id="11" name="Text 9"/>
          <p:cNvSpPr txBox="1"/>
          <p:nvPr/>
        </p:nvSpPr>
        <p:spPr>
          <a:xfrm>
            <a:off x="1828800" y="2834640"/>
            <a:ext cx="2834640" cy="73152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scikit-learn, Pandas, NumPy, Joblib</a:t>
            </a:r>
            <a:endParaRPr lang="en-US" sz="1400" dirty="0"/>
          </a:p>
        </p:txBody>
      </p:sp>
      <p:sp>
        <p:nvSpPr>
          <p:cNvPr id="12" name="Shape 10"/>
          <p:cNvSpPr/>
          <p:nvPr/>
        </p:nvSpPr>
        <p:spPr>
          <a:xfrm>
            <a:off x="457200" y="3703320"/>
            <a:ext cx="4297680" cy="731520"/>
          </a:xfrm>
          <a:prstGeom prst="rect">
            <a:avLst/>
          </a:prstGeom>
          <a:solidFill>
            <a:srgbClr val="E3F1F2"/>
          </a:solidFill>
          <a:ln/>
        </p:spPr>
        <p:txBody>
          <a:bodyPr/>
          <a:lstStyle/>
          <a:p>
            <a:endParaRPr lang="en-IN"/>
          </a:p>
        </p:txBody>
      </p:sp>
      <p:sp>
        <p:nvSpPr>
          <p:cNvPr id="13" name="Text 11"/>
          <p:cNvSpPr txBox="1"/>
          <p:nvPr/>
        </p:nvSpPr>
        <p:spPr>
          <a:xfrm>
            <a:off x="594360" y="3703320"/>
            <a:ext cx="1234440" cy="731520"/>
          </a:xfrm>
          <a:prstGeom prst="rect">
            <a:avLst/>
          </a:prstGeom>
          <a:noFill/>
          <a:ln/>
        </p:spPr>
        <p:txBody>
          <a:bodyPr wrap="square" lIns="0" tIns="0" rIns="0" bIns="0" rtlCol="0" anchor="ctr"/>
          <a:lstStyle/>
          <a:p>
            <a:pPr marL="0" indent="0">
              <a:buNone/>
            </a:pPr>
            <a:r>
              <a:rPr lang="en-US" sz="1400" b="1" dirty="0">
                <a:solidFill>
                  <a:srgbClr val="14284B"/>
                </a:solidFill>
                <a:latin typeface="Calibri" pitchFamily="34" charset="0"/>
                <a:ea typeface="Calibri" pitchFamily="34" charset="-122"/>
                <a:cs typeface="Calibri" pitchFamily="34" charset="-120"/>
              </a:rPr>
              <a:t>Music preview</a:t>
            </a:r>
            <a:endParaRPr lang="en-US" sz="1400" dirty="0"/>
          </a:p>
        </p:txBody>
      </p:sp>
      <p:sp>
        <p:nvSpPr>
          <p:cNvPr id="14" name="Text 12"/>
          <p:cNvSpPr txBox="1"/>
          <p:nvPr/>
        </p:nvSpPr>
        <p:spPr>
          <a:xfrm>
            <a:off x="1828800" y="3703320"/>
            <a:ext cx="2834640" cy="73152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Jamendo API, where available</a:t>
            </a:r>
            <a:endParaRPr lang="en-US" sz="1400" dirty="0"/>
          </a:p>
        </p:txBody>
      </p:sp>
      <p:pic>
        <p:nvPicPr>
          <p:cNvPr id="15" name="Jamendo preview screenshot (original app)" descr="A recommended song card with Play Preview and Jamendo label"/>
          <p:cNvPicPr>
            <a:picLocks noChangeAspect="1"/>
          </p:cNvPicPr>
          <p:nvPr/>
        </p:nvPicPr>
        <p:blipFill>
          <a:blip r:embed="rId3"/>
          <a:stretch>
            <a:fillRect/>
          </a:stretch>
        </p:blipFill>
        <p:spPr>
          <a:xfrm>
            <a:off x="5029200" y="1097280"/>
            <a:ext cx="3657600" cy="2246586"/>
          </a:xfrm>
          <a:prstGeom prst="rect">
            <a:avLst/>
          </a:prstGeom>
        </p:spPr>
      </p:pic>
      <p:sp>
        <p:nvSpPr>
          <p:cNvPr id="16" name="Shape 13"/>
          <p:cNvSpPr/>
          <p:nvPr/>
        </p:nvSpPr>
        <p:spPr>
          <a:xfrm>
            <a:off x="5029200" y="1097280"/>
            <a:ext cx="3657600" cy="2246586"/>
          </a:xfrm>
          <a:prstGeom prst="rect">
            <a:avLst/>
          </a:prstGeom>
          <a:ln w="12700">
            <a:solidFill>
              <a:srgbClr val="C9D3E0"/>
            </a:solidFill>
            <a:prstDash val="solid"/>
          </a:ln>
        </p:spPr>
        <p:txBody>
          <a:bodyPr/>
          <a:lstStyle/>
          <a:p>
            <a:endParaRPr lang="en-IN"/>
          </a:p>
        </p:txBody>
      </p:sp>
      <p:sp>
        <p:nvSpPr>
          <p:cNvPr id="17" name="Text 14"/>
          <p:cNvSpPr txBox="1"/>
          <p:nvPr/>
        </p:nvSpPr>
        <p:spPr>
          <a:xfrm>
            <a:off x="5029200" y="3474720"/>
            <a:ext cx="3657600" cy="1188720"/>
          </a:xfrm>
          <a:prstGeom prst="rect">
            <a:avLst/>
          </a:prstGeom>
          <a:noFill/>
          <a:ln/>
        </p:spPr>
        <p:txBody>
          <a:bodyPr wrap="square" lIns="0" tIns="0" rIns="0" bIns="0" rtlCol="0" anchor="t"/>
          <a:lstStyle/>
          <a:p>
            <a:pPr marL="0" indent="0">
              <a:buNone/>
            </a:pPr>
            <a:r>
              <a:rPr lang="en-US" sz="1300" b="1" dirty="0">
                <a:solidFill>
                  <a:srgbClr val="14284B"/>
                </a:solidFill>
                <a:latin typeface="Calibri" pitchFamily="34" charset="0"/>
                <a:ea typeface="Calibri" pitchFamily="34" charset="-122"/>
                <a:cs typeface="Calibri" pitchFamily="34" charset="-120"/>
              </a:rPr>
              <a:t>Preview is a different track. </a:t>
            </a:r>
            <a:r>
              <a:rPr lang="en-US" sz="1300" dirty="0">
                <a:solidFill>
                  <a:srgbClr val="1F2A3C"/>
                </a:solidFill>
                <a:latin typeface="Calibri" pitchFamily="34" charset="0"/>
                <a:ea typeface="Calibri" pitchFamily="34" charset="-122"/>
                <a:cs typeface="Calibri" pitchFamily="34" charset="-120"/>
              </a:rPr>
              <a:t>The Jamendo preview is a licensed track and may not be the recommended song. Here, “Infinite Serenade” (Dua Lipa) is recommended, but the preview is “Waltz N° 1” by Vladimir. The app labels both.</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11</a:t>
            </a:fld>
            <a:endParaRPr lang="en-US"/>
          </a:p>
        </p:txBody>
      </p:sp>
      <p:sp>
        <p:nvSpPr>
          <p:cNvPr id="18" name="Rectangle 17">
            <a:extLst>
              <a:ext uri="{FF2B5EF4-FFF2-40B4-BE49-F238E27FC236}">
                <a16:creationId xmlns:a16="http://schemas.microsoft.com/office/drawing/2014/main" id="{0E29D288-D70B-5C89-62B4-8EE2606F1C5E}"/>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800" b="1" dirty="0">
                <a:solidFill>
                  <a:srgbClr val="14284B"/>
                </a:solidFill>
                <a:latin typeface="Calibri" pitchFamily="34" charset="0"/>
                <a:ea typeface="Calibri" pitchFamily="34" charset="-122"/>
                <a:cs typeface="Calibri" pitchFamily="34" charset="-120"/>
              </a:rPr>
              <a:t>Conclusion and Future Scope</a:t>
            </a:r>
            <a:endParaRPr lang="en-US" sz="2800" dirty="0"/>
          </a:p>
        </p:txBody>
      </p:sp>
      <p:sp>
        <p:nvSpPr>
          <p:cNvPr id="3" name="Text 1"/>
          <p:cNvSpPr txBox="1"/>
          <p:nvPr/>
        </p:nvSpPr>
        <p:spPr>
          <a:xfrm>
            <a:off x="457200" y="1051560"/>
            <a:ext cx="3931920" cy="32004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What was built</a:t>
            </a:r>
            <a:endParaRPr lang="en-US" sz="1800" dirty="0"/>
          </a:p>
        </p:txBody>
      </p:sp>
      <p:pic>
        <p:nvPicPr>
          <p:cNvPr id="4" name="Image 0" descr="check"/>
          <p:cNvPicPr>
            <a:picLocks noChangeAspect="1"/>
          </p:cNvPicPr>
          <p:nvPr/>
        </p:nvPicPr>
        <p:blipFill>
          <a:blip r:embed="rId3"/>
          <a:stretch>
            <a:fillRect/>
          </a:stretch>
        </p:blipFill>
        <p:spPr>
          <a:xfrm>
            <a:off x="457200" y="1517904"/>
            <a:ext cx="182880" cy="182880"/>
          </a:xfrm>
          <a:prstGeom prst="rect">
            <a:avLst/>
          </a:prstGeom>
        </p:spPr>
      </p:pic>
      <p:sp>
        <p:nvSpPr>
          <p:cNvPr id="5" name="Text 2"/>
          <p:cNvSpPr txBox="1"/>
          <p:nvPr/>
        </p:nvSpPr>
        <p:spPr>
          <a:xfrm>
            <a:off x="777240" y="146304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Dataset preprocessing and feature analysis</a:t>
            </a:r>
            <a:endParaRPr lang="en-US" sz="1400" dirty="0"/>
          </a:p>
        </p:txBody>
      </p:sp>
      <p:pic>
        <p:nvPicPr>
          <p:cNvPr id="6" name="Image 1" descr="check"/>
          <p:cNvPicPr>
            <a:picLocks noChangeAspect="1"/>
          </p:cNvPicPr>
          <p:nvPr/>
        </p:nvPicPr>
        <p:blipFill>
          <a:blip r:embed="rId3"/>
          <a:stretch>
            <a:fillRect/>
          </a:stretch>
        </p:blipFill>
        <p:spPr>
          <a:xfrm>
            <a:off x="457200" y="1883664"/>
            <a:ext cx="182880" cy="182880"/>
          </a:xfrm>
          <a:prstGeom prst="rect">
            <a:avLst/>
          </a:prstGeom>
        </p:spPr>
      </p:pic>
      <p:sp>
        <p:nvSpPr>
          <p:cNvPr id="7" name="Text 3"/>
          <p:cNvSpPr txBox="1"/>
          <p:nvPr/>
        </p:nvSpPr>
        <p:spPr>
          <a:xfrm>
            <a:off x="777240" y="182880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Training and comparison of five classifiers</a:t>
            </a:r>
            <a:endParaRPr lang="en-US" sz="1400" dirty="0"/>
          </a:p>
        </p:txBody>
      </p:sp>
      <p:pic>
        <p:nvPicPr>
          <p:cNvPr id="8" name="Image 2" descr="check"/>
          <p:cNvPicPr>
            <a:picLocks noChangeAspect="1"/>
          </p:cNvPicPr>
          <p:nvPr/>
        </p:nvPicPr>
        <p:blipFill>
          <a:blip r:embed="rId3"/>
          <a:stretch>
            <a:fillRect/>
          </a:stretch>
        </p:blipFill>
        <p:spPr>
          <a:xfrm>
            <a:off x="457200" y="2249424"/>
            <a:ext cx="182880" cy="182880"/>
          </a:xfrm>
          <a:prstGeom prst="rect">
            <a:avLst/>
          </a:prstGeom>
        </p:spPr>
      </p:pic>
      <p:sp>
        <p:nvSpPr>
          <p:cNvPr id="9" name="Text 4"/>
          <p:cNvSpPr txBox="1"/>
          <p:nvPr/>
        </p:nvSpPr>
        <p:spPr>
          <a:xfrm>
            <a:off x="777240" y="219456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Playlist prediction with confidence</a:t>
            </a:r>
            <a:endParaRPr lang="en-US" sz="1400" dirty="0"/>
          </a:p>
        </p:txBody>
      </p:sp>
      <p:pic>
        <p:nvPicPr>
          <p:cNvPr id="10" name="Image 3" descr="check"/>
          <p:cNvPicPr>
            <a:picLocks noChangeAspect="1"/>
          </p:cNvPicPr>
          <p:nvPr/>
        </p:nvPicPr>
        <p:blipFill>
          <a:blip r:embed="rId3"/>
          <a:stretch>
            <a:fillRect/>
          </a:stretch>
        </p:blipFill>
        <p:spPr>
          <a:xfrm>
            <a:off x="457200" y="2615184"/>
            <a:ext cx="182880" cy="182880"/>
          </a:xfrm>
          <a:prstGeom prst="rect">
            <a:avLst/>
          </a:prstGeom>
        </p:spPr>
      </p:pic>
      <p:sp>
        <p:nvSpPr>
          <p:cNvPr id="11" name="Text 5"/>
          <p:cNvSpPr txBox="1"/>
          <p:nvPr/>
        </p:nvSpPr>
        <p:spPr>
          <a:xfrm>
            <a:off x="777240" y="256032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Cosine-similarity song recommendation</a:t>
            </a:r>
            <a:endParaRPr lang="en-US" sz="1400" dirty="0"/>
          </a:p>
        </p:txBody>
      </p:sp>
      <p:pic>
        <p:nvPicPr>
          <p:cNvPr id="12" name="Image 4" descr="check"/>
          <p:cNvPicPr>
            <a:picLocks noChangeAspect="1"/>
          </p:cNvPicPr>
          <p:nvPr/>
        </p:nvPicPr>
        <p:blipFill>
          <a:blip r:embed="rId3"/>
          <a:stretch>
            <a:fillRect/>
          </a:stretch>
        </p:blipFill>
        <p:spPr>
          <a:xfrm>
            <a:off x="457200" y="2980944"/>
            <a:ext cx="182880" cy="182880"/>
          </a:xfrm>
          <a:prstGeom prst="rect">
            <a:avLst/>
          </a:prstGeom>
        </p:spPr>
      </p:pic>
      <p:sp>
        <p:nvSpPr>
          <p:cNvPr id="13" name="Text 6"/>
          <p:cNvSpPr txBox="1"/>
          <p:nvPr/>
        </p:nvSpPr>
        <p:spPr>
          <a:xfrm>
            <a:off x="777240" y="292608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React + FastAPI web application</a:t>
            </a:r>
            <a:endParaRPr lang="en-US" sz="1400" dirty="0"/>
          </a:p>
        </p:txBody>
      </p:sp>
      <p:pic>
        <p:nvPicPr>
          <p:cNvPr id="14" name="Image 5" descr="check"/>
          <p:cNvPicPr>
            <a:picLocks noChangeAspect="1"/>
          </p:cNvPicPr>
          <p:nvPr/>
        </p:nvPicPr>
        <p:blipFill>
          <a:blip r:embed="rId3"/>
          <a:stretch>
            <a:fillRect/>
          </a:stretch>
        </p:blipFill>
        <p:spPr>
          <a:xfrm>
            <a:off x="457200" y="3346704"/>
            <a:ext cx="182880" cy="182880"/>
          </a:xfrm>
          <a:prstGeom prst="rect">
            <a:avLst/>
          </a:prstGeom>
        </p:spPr>
      </p:pic>
      <p:sp>
        <p:nvSpPr>
          <p:cNvPr id="15" name="Text 7"/>
          <p:cNvSpPr txBox="1"/>
          <p:nvPr/>
        </p:nvSpPr>
        <p:spPr>
          <a:xfrm>
            <a:off x="777240" y="3291840"/>
            <a:ext cx="3657600" cy="320040"/>
          </a:xfrm>
          <a:prstGeom prst="rect">
            <a:avLst/>
          </a:prstGeom>
          <a:noFill/>
          <a:ln/>
        </p:spPr>
        <p:txBody>
          <a:bodyPr wrap="square" lIns="0" tIns="0" rIns="0" bIns="0" rtlCol="0" anchor="ctr"/>
          <a:lstStyle/>
          <a:p>
            <a:pPr marL="0" indent="0">
              <a:buNone/>
            </a:pPr>
            <a:r>
              <a:rPr lang="en-US" sz="1400" dirty="0">
                <a:solidFill>
                  <a:srgbClr val="1F2A3C"/>
                </a:solidFill>
                <a:latin typeface="Calibri" pitchFamily="34" charset="0"/>
                <a:ea typeface="Calibri" pitchFamily="34" charset="-122"/>
                <a:cs typeface="Calibri" pitchFamily="34" charset="-120"/>
              </a:rPr>
              <a:t>Music previews through Jamendo, where available</a:t>
            </a:r>
            <a:endParaRPr lang="en-US" sz="1400" dirty="0"/>
          </a:p>
        </p:txBody>
      </p:sp>
      <p:sp>
        <p:nvSpPr>
          <p:cNvPr id="16" name="Text 8"/>
          <p:cNvSpPr txBox="1"/>
          <p:nvPr/>
        </p:nvSpPr>
        <p:spPr>
          <a:xfrm>
            <a:off x="4846320" y="1051560"/>
            <a:ext cx="3840480" cy="320040"/>
          </a:xfrm>
          <a:prstGeom prst="rect">
            <a:avLst/>
          </a:prstGeom>
          <a:noFill/>
          <a:ln/>
        </p:spPr>
        <p:txBody>
          <a:bodyPr wrap="square" lIns="0" tIns="0" rIns="0" bIns="0" rtlCol="0" anchor="t"/>
          <a:lstStyle/>
          <a:p>
            <a:pPr marL="0" indent="0">
              <a:buNone/>
            </a:pPr>
            <a:r>
              <a:rPr lang="en-US" sz="1800" b="1" dirty="0">
                <a:solidFill>
                  <a:srgbClr val="14284B"/>
                </a:solidFill>
                <a:latin typeface="Calibri" pitchFamily="34" charset="0"/>
                <a:ea typeface="Calibri" pitchFamily="34" charset="-122"/>
                <a:cs typeface="Calibri" pitchFamily="34" charset="-120"/>
              </a:rPr>
              <a:t>Future scope</a:t>
            </a:r>
            <a:endParaRPr lang="en-US" sz="1800" dirty="0"/>
          </a:p>
        </p:txBody>
      </p:sp>
      <p:sp>
        <p:nvSpPr>
          <p:cNvPr id="17" name="Text 9"/>
          <p:cNvSpPr txBox="1"/>
          <p:nvPr/>
        </p:nvSpPr>
        <p:spPr>
          <a:xfrm>
            <a:off x="4846320" y="1463040"/>
            <a:ext cx="384048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3C"/>
                </a:solidFill>
                <a:latin typeface="Calibri" pitchFamily="34" charset="0"/>
                <a:ea typeface="Calibri" pitchFamily="34" charset="-122"/>
                <a:cs typeface="Calibri" pitchFamily="34" charset="-120"/>
              </a:rPr>
              <a:t>Personalized recommendations from listening history</a:t>
            </a:r>
            <a:endParaRPr lang="en-US" sz="1400" dirty="0"/>
          </a:p>
          <a:p>
            <a:pPr marL="342900" indent="-342900">
              <a:spcAft>
                <a:spcPts val="800"/>
              </a:spcAft>
              <a:buSzPct val="100000"/>
              <a:buChar char="•"/>
            </a:pPr>
            <a:r>
              <a:rPr lang="en-US" sz="1400" dirty="0">
                <a:solidFill>
                  <a:srgbClr val="1F2A3C"/>
                </a:solidFill>
                <a:latin typeface="Calibri" pitchFamily="34" charset="0"/>
                <a:ea typeface="Calibri" pitchFamily="34" charset="-122"/>
                <a:cs typeface="Calibri" pitchFamily="34" charset="-120"/>
              </a:rPr>
              <a:t>Hybrid content-based and collaborative filtering</a:t>
            </a:r>
            <a:endParaRPr lang="en-US" sz="1400" dirty="0"/>
          </a:p>
          <a:p>
            <a:pPr marL="342900" indent="-342900">
              <a:spcAft>
                <a:spcPts val="800"/>
              </a:spcAft>
              <a:buSzPct val="100000"/>
              <a:buChar char="•"/>
            </a:pPr>
            <a:r>
              <a:rPr lang="en-US" sz="1400" dirty="0">
                <a:solidFill>
                  <a:srgbClr val="1F2A3C"/>
                </a:solidFill>
                <a:latin typeface="Calibri" pitchFamily="34" charset="0"/>
                <a:ea typeface="Calibri" pitchFamily="34" charset="-122"/>
                <a:cs typeface="Calibri" pitchFamily="34" charset="-120"/>
              </a:rPr>
              <a:t>User feedback and preference adaptation</a:t>
            </a:r>
            <a:endParaRPr lang="en-US" sz="1400" dirty="0"/>
          </a:p>
          <a:p>
            <a:pPr marL="342900" indent="-342900">
              <a:spcAft>
                <a:spcPts val="800"/>
              </a:spcAft>
              <a:buSzPct val="100000"/>
              <a:buChar char="•"/>
            </a:pPr>
            <a:r>
              <a:rPr lang="en-US" sz="1400" dirty="0">
                <a:solidFill>
                  <a:srgbClr val="1F2A3C"/>
                </a:solidFill>
                <a:latin typeface="Calibri" pitchFamily="34" charset="0"/>
                <a:ea typeface="Calibri" pitchFamily="34" charset="-122"/>
                <a:cs typeface="Calibri" pitchFamily="34" charset="-120"/>
              </a:rPr>
              <a:t>Mood-based playlists</a:t>
            </a:r>
            <a:endParaRPr lang="en-US" sz="1400" dirty="0"/>
          </a:p>
        </p:txBody>
      </p:sp>
      <p:sp>
        <p:nvSpPr>
          <p:cNvPr id="20" name="Text 12"/>
          <p:cNvSpPr txBox="1"/>
          <p:nvPr/>
        </p:nvSpPr>
        <p:spPr>
          <a:xfrm>
            <a:off x="4572000" y="3794760"/>
            <a:ext cx="3931920" cy="868680"/>
          </a:xfrm>
          <a:prstGeom prst="rect">
            <a:avLst/>
          </a:prstGeom>
          <a:noFill/>
          <a:ln/>
        </p:spPr>
        <p:txBody>
          <a:bodyPr wrap="square" lIns="0" tIns="0" rIns="0" bIns="0" rtlCol="0" anchor="ctr"/>
          <a:lstStyle/>
          <a:p>
            <a:pPr marL="0" indent="0" algn="r">
              <a:buNone/>
            </a:pPr>
            <a:r>
              <a:rPr lang="en-US" sz="1400" dirty="0">
                <a:solidFill>
                  <a:srgbClr val="FFFFFF"/>
                </a:solidFill>
                <a:latin typeface="Calibri" pitchFamily="34" charset="0"/>
                <a:ea typeface="Calibri" pitchFamily="34" charset="-122"/>
                <a:cs typeface="Calibri" pitchFamily="34" charset="-120"/>
              </a:rPr>
              <a:t>Purushothama K C  |  PES1UG25AM810</a:t>
            </a:r>
            <a:endParaRPr lang="en-US" sz="1400" dirty="0"/>
          </a:p>
          <a:p>
            <a:pPr marL="0" indent="0" algn="r">
              <a:buNone/>
            </a:pPr>
            <a:r>
              <a:rPr lang="en-US" sz="1400" dirty="0">
                <a:solidFill>
                  <a:srgbClr val="FFFFFF"/>
                </a:solidFill>
                <a:latin typeface="Calibri" pitchFamily="34" charset="0"/>
                <a:ea typeface="Calibri" pitchFamily="34" charset="-122"/>
                <a:cs typeface="Calibri" pitchFamily="34" charset="-120"/>
              </a:rPr>
              <a:t>github.com/Purushothama449</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F6B7A"/>
                </a:solidFill>
                <a:latin typeface="Calibri"/>
                <a:ea typeface="Calibri"/>
                <a:cs typeface="Calibri"/>
              </a:defRPr>
            </a:lvl1pPr>
          </a:lstStyle>
          <a:p>
            <a:pPr algn="r"/>
            <a:fld id="{F7021451-1387-4CA6-816F-3879F97B5CBC}" type="slidenum">
              <a:rPr lang="en-US" b="0"/>
              <a:t>12</a:t>
            </a:fld>
            <a:endParaRPr lang="en-US"/>
          </a:p>
        </p:txBody>
      </p:sp>
      <p:sp>
        <p:nvSpPr>
          <p:cNvPr id="21" name="Rectangle 20">
            <a:extLst>
              <a:ext uri="{FF2B5EF4-FFF2-40B4-BE49-F238E27FC236}">
                <a16:creationId xmlns:a16="http://schemas.microsoft.com/office/drawing/2014/main" id="{774D9381-2BAD-F4E8-7192-CB25350D2263}"/>
              </a:ext>
            </a:extLst>
          </p:cNvPr>
          <p:cNvSpPr/>
          <p:nvPr/>
        </p:nvSpPr>
        <p:spPr>
          <a:xfrm>
            <a:off x="386576" y="4754880"/>
            <a:ext cx="2059258" cy="228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8DB9CD9-59B1-4D73-BC4C-98796A48EF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74A6A9-41FF-4E33-AFA8-F9F81436A5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721D730E-1F97-4071-B143-B05E6D2599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1" y="2988"/>
            <a:ext cx="7329573" cy="5143500"/>
            <a:chOff x="1303402" y="3985"/>
            <a:chExt cx="9772765" cy="6858000"/>
          </a:xfrm>
        </p:grpSpPr>
        <p:sp>
          <p:nvSpPr>
            <p:cNvPr id="12" name="Freeform: Shape 11">
              <a:extLst>
                <a:ext uri="{FF2B5EF4-FFF2-40B4-BE49-F238E27FC236}">
                  <a16:creationId xmlns:a16="http://schemas.microsoft.com/office/drawing/2014/main" id="{B3849C6A-9EE5-4604-8EAE-DD4796B79D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985"/>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308677BE-069B-4A4D-8732-E26B6EF567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985"/>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9A9A575B-DD07-4388-963B-0AF3FDDCF3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985"/>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D55285E4-21EB-4EC1-AB8E-36E881E899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985"/>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6A0C77B5-3FAA-4D4F-9555-89D751608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985"/>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5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17" name="Freeform: Shape 16">
              <a:extLst>
                <a:ext uri="{FF2B5EF4-FFF2-40B4-BE49-F238E27FC236}">
                  <a16:creationId xmlns:a16="http://schemas.microsoft.com/office/drawing/2014/main" id="{5F0C96D1-A8B7-4C8E-9997-D823FD1591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985"/>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DA46556D-445B-4CD0-87A0-02A30BD1B1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985"/>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extBox 1">
            <a:extLst>
              <a:ext uri="{FF2B5EF4-FFF2-40B4-BE49-F238E27FC236}">
                <a16:creationId xmlns:a16="http://schemas.microsoft.com/office/drawing/2014/main" id="{2BB1F3AB-62EE-A010-F815-84B3AE9B8EF4}"/>
              </a:ext>
            </a:extLst>
          </p:cNvPr>
          <p:cNvSpPr txBox="1"/>
          <p:nvPr/>
        </p:nvSpPr>
        <p:spPr>
          <a:xfrm>
            <a:off x="2411796" y="1323305"/>
            <a:ext cx="4320635" cy="1732734"/>
          </a:xfrm>
          <a:prstGeom prst="rect">
            <a:avLst/>
          </a:prstGeom>
        </p:spPr>
        <p:txBody>
          <a:bodyPr vert="horz" lIns="91440" tIns="45720" rIns="91440" bIns="45720" rtlCol="0" anchor="b">
            <a:normAutofit/>
          </a:bodyPr>
          <a:lstStyle/>
          <a:p>
            <a:pPr algn="ctr">
              <a:lnSpc>
                <a:spcPct val="90000"/>
              </a:lnSpc>
              <a:spcBef>
                <a:spcPct val="0"/>
              </a:spcBef>
              <a:spcAft>
                <a:spcPts val="600"/>
              </a:spcAft>
            </a:pPr>
            <a:r>
              <a:rPr lang="en-US" sz="3900" kern="1200" dirty="0">
                <a:solidFill>
                  <a:schemeClr val="tx2"/>
                </a:solidFill>
                <a:latin typeface="+mj-lt"/>
                <a:ea typeface="+mj-ea"/>
                <a:cs typeface="+mj-cs"/>
              </a:rPr>
              <a:t>Thank You</a:t>
            </a:r>
          </a:p>
        </p:txBody>
      </p:sp>
    </p:spTree>
    <p:extLst>
      <p:ext uri="{BB962C8B-B14F-4D97-AF65-F5344CB8AC3E}">
        <p14:creationId xmlns:p14="http://schemas.microsoft.com/office/powerpoint/2010/main" val="1037301327"/>
      </p:ext>
    </p:extLst>
  </p:cSld>
  <p:clrMapOvr>
    <a:masterClrMapping/>
  </p:clrMapOvr>
</p:sld>
</file>

<file path=ppt/theme/theme1.xml><?xml version="1.0" encoding="utf-8"?>
<a:theme xmlns:a="http://schemas.openxmlformats.org/drawingml/2006/main" name="AI Playlist Curator">
  <a:themeElements>
    <a:clrScheme name="AI Playlist Curator">
      <a:dk1>
        <a:srgbClr val="1F2A3C"/>
      </a:dk1>
      <a:lt1>
        <a:srgbClr val="FFFFFF"/>
      </a:lt1>
      <a:dk2>
        <a:srgbClr val="14284B"/>
      </a:dk2>
      <a:lt2>
        <a:srgbClr val="EEF2F7"/>
      </a:lt2>
      <a:accent1>
        <a:srgbClr val="0F7C8A"/>
      </a:accent1>
      <a:accent2>
        <a:srgbClr val="14284B"/>
      </a:accent2>
      <a:accent3>
        <a:srgbClr val="5B7BA6"/>
      </a:accent3>
      <a:accent4>
        <a:srgbClr val="8FA3BF"/>
      </a:accent4>
      <a:accent5>
        <a:srgbClr val="C9D3E0"/>
      </a:accent5>
      <a:accent6>
        <a:srgbClr val="B7791F"/>
      </a:accent6>
      <a:hlink>
        <a:srgbClr val="0F7C8A"/>
      </a:hlink>
      <a:folHlink>
        <a:srgbClr val="5B7BA6"/>
      </a:folHlink>
    </a:clrScheme>
    <a:fontScheme name="AI Playlist Curato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1601</Words>
  <Application>Microsoft Office PowerPoint</Application>
  <PresentationFormat>On-screen Show (16:9)</PresentationFormat>
  <Paragraphs>225</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Open Sans</vt:lpstr>
      <vt:lpstr>Trebuchet MS</vt:lpstr>
      <vt:lpstr>AI Playlist Curator</vt:lpstr>
      <vt:lpstr>PowerPoint Presentation</vt:lpstr>
      <vt:lpstr>Problem Statement</vt:lpstr>
      <vt:lpstr>Project Objectives</vt:lpstr>
      <vt:lpstr>Dataset and Audio Features</vt:lpstr>
      <vt:lpstr>System Architecture</vt:lpstr>
      <vt:lpstr>Data Preprocessing</vt:lpstr>
      <vt:lpstr>Machine Learning Models</vt:lpstr>
      <vt:lpstr>Evaluation and Results</vt:lpstr>
      <vt:lpstr>Playlist Prediction</vt:lpstr>
      <vt:lpstr>Similar-Song Recommendation</vt:lpstr>
      <vt:lpstr>Technology Stack and Music Preview</vt:lpstr>
      <vt:lpstr>Conclusion and Future Scope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Playlist Curator</dc:title>
  <dc:subject>PptxGenJS Presentation</dc:subject>
  <dc:creator>Purushothama K C</dc:creator>
  <cp:lastModifiedBy>Purushothama KC</cp:lastModifiedBy>
  <cp:revision>2</cp:revision>
  <dcterms:created xsi:type="dcterms:W3CDTF">2026-10-11T14:13:31Z</dcterms:created>
  <dcterms:modified xsi:type="dcterms:W3CDTF">2026-10-11T14:57:51Z</dcterms:modified>
</cp:coreProperties>
</file>